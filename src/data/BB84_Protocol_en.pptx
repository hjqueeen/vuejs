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overview of what we'll cover today.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Hello, I'm Hyejin Kim, and today I'll be talking about implementing the BB84 protocol using Qiskit. In this presentation, we'll cover some basic concepts of quantum computing, the limitations of conventional cryptography, and quantum cryptography — including the BB84 protocol. After that, we'll walk through a hands-on implementation of BB84 with Qiskit. For the practical part, you'll need basic Python knowledge and familiarity with Google Colab.</a:t>
            </a:r>
          </a:p>
          <a:p/>
          <a:p>
            <a:r>
              <a:t>Quantum computing is a technology that uses quantum phenomena to process data in parallel on a massive scale, which makes computation extremely fast. A recent headline example is Google's quantum supremacy experiment — news reports said they solved a problem that would take about 10.7 trillion years on a classical computer in just five minutes. Because of this speed, quantum computing is expected to be useful across many fields, and companies around the world are investing heavily in its development.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we get into quantum cryptography, let me briefly explain how conventional cryptography works. The asymmetric public-key schemes widely used today rely on mathematical problems that are very hard to solve. You encrypt information with a public key, and only someone with the private key can decrypt it — so security is based on computational complexity.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RSA as an example: it uses the integer factorization problem. As the size of the problem grows, the time needed to solve it increases exponentially. So if sender and receiver use a large enough factorization problem as their public key, an eavesdropper who intercepts the ciphertext can't realistically decrypt it in practice.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Traditional cryptography stayed secure because decryption takes a long time — but as I mentioned, quantum computers can solve these mathematical hard problems in a flash. As quantum computing advances, we can no longer assume that our existing crypto systems are safe.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how do we address this? One answer is quantum cryptography. When you transmit the encryption key, quantum cryptography uses the laws of quantum mechanics to make eavesdropping impossible. Where classical crypto counted on slow decryption for safety, quantum cryptography uses physical principles so you maintain a consistent level of security regardless of how powerful quantum computers become.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 me explain the quantum properties that quantum cryptography relies on. Quantum systems have three key features: superposition, measurement uncertainty, and the no-cloning theorem. Superposition means a qubit can be in both 0 and 1 at once — we use that to send keys in overlapping states so their values stay hidden. Uncertainty means that before you measure a quantum state it can be in superposition, but once you measure, the state collapses — and that lets us detect eavesdropping during key exchange. No-cloning means you cannot perfectly copy arbitrary quantum information — so an eavesdropper can't measure, copy, and forward the same quantum state to hide what they did.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Using these properties, quantum cryptography builds a system where sender and receiver can safely distribute encryption keys in real time. This is known as QKD — Quantum Key Distribution. Next, I'll walk you through BB84, one of the most representative QKD protocols. BB84 performs quantum key distribution using four quantum states. Before we look at the protocol steps, there are a few concepts we should cover — I'll keep this simple so it's not too overwhelming.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quantum computing, the basic unit of information is the quantum bit, or qubit. Unlike a classical bit that is fixed at 0 or 1, a qubit can exist in a superposition where it probabilistically holds both 0 and 1 at the same time. A basis is a set of orthogonal vectors used to represent quantum states. BB84 uses two bases — the rectilinear basis and the diagonal basis — and when a quantum state passes through different polarization filters, its representation changes, as shown in the diagram. In the rectilinear basis, 0 maps to horizontal polarization and 1 to vertical. In the diagonal basis, 0 maps to diagonal polarization and 1 to anti-diagonal.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go through how BB84 works. In cryptography we often name the sender Alice, the receiver Bob, and the eavesdropper Eve — I'll use those names here. First, Alice generates random bits and randomly chooses a basis for each one. Then she encodes each bit in the chosen basis — for example, bit 0 with the rectilinear basis becomes horizontal polarization, bit 1 with rectilinear becomes vertical, and with the diagonal basis, 0 becomes diagonal and 1 becomes anti-diagonal. Bob also picks a random basis for each incoming qubit. After transmission, Alice and Bob publicly compare their basis choices and keep only the bits where they matched — those become the shared secret key. If their keys agree, they assume the channel was secure; if not, they treat it as possible eavesdropping. That's the core idea of BB84.</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implement BB84 using Qiskit. Qiskit is an open-source quantum computing framework designed to access quantum computers through the cloud and to design quantum circuits. We'll run the lab in Google Colab, and the code is already prepared. First we'll install and import the packages Qiskit needs. Before the full BB84 implementation, let's look at a simple case: Alice sends one bit to Bob and Bob receives it.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qubit 0 passes through the diagonal basis, it gets encoded as diagonal polarization. We can implement the diagonal basis using the Hadamard gate. The Hadamard gate creates superposition and is used to change the measurement basis — when you want the rectilinear basis you leave the qubit alone, and when you need the diagonal basis you apply a Hadamard gate.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the code. We create a one-qubit quantum circuit. Right after initialization the qubit starts in |0&gt;, and we apply a Hadamard gate to switch it to the diagonal basis — so 0 becomes diagonally polarized. The barrier in the diagram is just for visual separation; it doesn't change the physics. Bob then applies another Hadamard gate and measures in the same diagonal basis to decode. When we run the circuit, we see the original state Alice sent — 0 — with 100% probability.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the eavesdropping scenario. As I said, because of measurement uncertainty, once Eve measures the qubit it collapses and Bob can no longer recover the original state. The code is the same as before, except we insert Eve's measurement in the middle. After that intervention, the result is no longer 100% zero — we get 0 and 1 with about 50% each.</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move on to the BB84 lab. The flow matches the slides, so I'll go straight into the implementation. First, the case with no eavesdropping: when Alice and Bob chose the same basis, Bob's decoded bits should match Alice's bits perfectly — and we use those matching cases to build the key.</a:t>
            </a:r>
          </a:p>
          <a:p/>
          <a:p>
            <a:r>
              <a:t>Let's verify that. Using NumPy's random seed, we'll randomly pick 35 bits and 35 bases. Think of basis 0 as rectilinear and basis 1 as diagonal. You can see the bits and bases were selected correctly.</a:t>
            </a:r>
          </a:p>
          <a:p/>
          <a:p>
            <a:r>
              <a:t>Next we encode according to the chosen bases. For each of the n bits we build a quantum circuit and set the state based on the bit and basis. If the basis is rectilinear and the bit is 0, we pass it through unchanged. If it's 1, we flip it with an X gate. For the diagonal basis with bit 0, we apply Hadamard; for bit 1 we X first, then Hadamard. We concatenate these encoded circuits in the encode_message function.</a:t>
            </a:r>
          </a:p>
          <a:p/>
          <a:p>
            <a:r>
              <a:t>Bob randomly chooses bases for each qubit, then decodes. For n qubits, if Bob's basis is rectilinear he measures directly; if it's diagonal he applies Hadamard first, then measures.</a:t>
            </a:r>
          </a:p>
          <a:p/>
          <a:p>
            <a:r>
              <a:t>Alice and Bob now publicly share their basis choices and add matching cases to the encryption key. The keys they generate are identical — run it once and you get a successful transmission message. When both keys match, we can conclude there was no eavesdropping.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a bonus, here's what happens when someone eavesdrops. The code is mostly the same, but we added a step where Eve randomly picks a basis and decodes Alice's message. When Eve measures once, the quantum state collapses, so Bob can no longer keep the same result as Alice's original bit. That means even the bits where Alice and Bob chose the same basis no longer match perfectly — and that's how we detect eavesdropping.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references, I consulted several papers on quantum cryptography and the Qiskit textbook on GitHub for the implementation. That wraps up our look at implementing the BB84 protocol with Qiskit.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
          </a:xfrm>
          <a:prstGeom prst="rect">
            <a:avLst/>
          </a:prstGeom>
          <a:solidFill>
            <a:srgbClr val="5BC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75704"/>
            <a:ext cx="12188952" cy="8229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920240"/>
            <a:ext cx="11064240" cy="3108960"/>
          </a:xfrm>
          <a:prstGeom prst="rect">
            <a:avLst/>
          </a:prstGeom>
          <a:solidFill>
            <a:srgbClr val="132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103120"/>
            <a:ext cx="10058400" cy="457200"/>
          </a:xfrm>
          <a:prstGeom prst="rect">
            <a:avLst/>
          </a:prstGeom>
          <a:noFill/>
        </p:spPr>
        <p:txBody>
          <a:bodyPr wrap="square">
            <a:spAutoFit/>
          </a:bodyPr>
          <a:lstStyle/>
          <a:p>
            <a:pPr algn="l"/>
            <a:r>
              <a:rPr sz="1100" b="1">
                <a:solidFill>
                  <a:srgbClr val="5BCEFA"/>
                </a:solidFill>
              </a:rPr>
              <a:t>QUANTUM CRYPTOGRAPHY  |  QISKIT</a:t>
            </a:r>
          </a:p>
        </p:txBody>
      </p:sp>
      <p:sp>
        <p:nvSpPr>
          <p:cNvPr id="7" name="TextBox 6"/>
          <p:cNvSpPr txBox="1"/>
          <p:nvPr/>
        </p:nvSpPr>
        <p:spPr>
          <a:xfrm>
            <a:off x="777240" y="2514600"/>
            <a:ext cx="10058400" cy="1005840"/>
          </a:xfrm>
          <a:prstGeom prst="rect">
            <a:avLst/>
          </a:prstGeom>
          <a:noFill/>
        </p:spPr>
        <p:txBody>
          <a:bodyPr wrap="square">
            <a:spAutoFit/>
          </a:bodyPr>
          <a:lstStyle/>
          <a:p>
            <a:pPr algn="l"/>
            <a:r>
              <a:rPr sz="4400" b="1">
                <a:solidFill>
                  <a:srgbClr val="FFFFFF"/>
                </a:solidFill>
              </a:rPr>
              <a:t>BB84 Protocol</a:t>
            </a:r>
          </a:p>
        </p:txBody>
      </p:sp>
      <p:sp>
        <p:nvSpPr>
          <p:cNvPr id="8" name="TextBox 7"/>
          <p:cNvSpPr txBox="1"/>
          <p:nvPr/>
        </p:nvSpPr>
        <p:spPr>
          <a:xfrm>
            <a:off x="777240" y="3429000"/>
            <a:ext cx="10058400" cy="640080"/>
          </a:xfrm>
          <a:prstGeom prst="rect">
            <a:avLst/>
          </a:prstGeom>
          <a:noFill/>
        </p:spPr>
        <p:txBody>
          <a:bodyPr wrap="square">
            <a:spAutoFit/>
          </a:bodyPr>
          <a:lstStyle/>
          <a:p>
            <a:pPr algn="l"/>
            <a:r>
              <a:rPr sz="2600" b="0">
                <a:solidFill>
                  <a:srgbClr val="5BCEFA"/>
                </a:solidFill>
              </a:rPr>
              <a:t>Implementation with Qiskit</a:t>
            </a:r>
          </a:p>
        </p:txBody>
      </p:sp>
      <p:sp>
        <p:nvSpPr>
          <p:cNvPr id="9" name="TextBox 8"/>
          <p:cNvSpPr txBox="1"/>
          <p:nvPr/>
        </p:nvSpPr>
        <p:spPr>
          <a:xfrm>
            <a:off x="777240" y="4251960"/>
            <a:ext cx="7315200" cy="457200"/>
          </a:xfrm>
          <a:prstGeom prst="rect">
            <a:avLst/>
          </a:prstGeom>
          <a:noFill/>
        </p:spPr>
        <p:txBody>
          <a:bodyPr wrap="square">
            <a:spAutoFit/>
          </a:bodyPr>
          <a:lstStyle/>
          <a:p>
            <a:pPr algn="l"/>
            <a:r>
              <a:rPr sz="1600" b="0">
                <a:solidFill>
                  <a:srgbClr val="9CB4CC"/>
                </a:solidFill>
              </a:rPr>
              <a:t>Hyejin Kim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
          </a:xfrm>
          <a:prstGeom prst="rect">
            <a:avLst/>
          </a:prstGeom>
          <a:solidFill>
            <a:srgbClr val="5BC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75704"/>
            <a:ext cx="12188952" cy="8229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82296"/>
            <a:ext cx="12188952" cy="1005840"/>
          </a:xfrm>
          <a:prstGeom prst="rect">
            <a:avLst/>
          </a:prstGeom>
          <a:solidFill>
            <a:srgbClr val="132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46304"/>
            <a:ext cx="11430000" cy="822960"/>
          </a:xfrm>
          <a:prstGeom prst="rect">
            <a:avLst/>
          </a:prstGeom>
          <a:noFill/>
        </p:spPr>
        <p:txBody>
          <a:bodyPr wrap="square">
            <a:spAutoFit/>
          </a:bodyPr>
          <a:lstStyle/>
          <a:p>
            <a:pPr algn="l"/>
            <a:r>
              <a:rPr sz="2800" b="1">
                <a:solidFill>
                  <a:srgbClr val="FFFFFF"/>
                </a:solidFill>
              </a:rPr>
              <a:t>Agenda</a:t>
            </a:r>
          </a:p>
        </p:txBody>
      </p:sp>
      <p:sp>
        <p:nvSpPr>
          <p:cNvPr id="7" name="Rectangle 6"/>
          <p:cNvSpPr/>
          <p:nvPr/>
        </p:nvSpPr>
        <p:spPr>
          <a:xfrm>
            <a:off x="411480" y="1481328"/>
            <a:ext cx="118872" cy="118872"/>
          </a:xfrm>
          <a:prstGeom prst="rect">
            <a:avLst/>
          </a:prstGeom>
          <a:solidFill>
            <a:srgbClr val="5BC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1325880"/>
            <a:ext cx="10972800" cy="548640"/>
          </a:xfrm>
          <a:prstGeom prst="rect">
            <a:avLst/>
          </a:prstGeom>
          <a:noFill/>
        </p:spPr>
        <p:txBody>
          <a:bodyPr wrap="square">
            <a:spAutoFit/>
          </a:bodyPr>
          <a:lstStyle/>
          <a:p>
            <a:pPr algn="l"/>
            <a:r>
              <a:rPr sz="2000" b="0">
                <a:solidFill>
                  <a:srgbClr val="FFFFFF"/>
                </a:solidFill>
              </a:rPr>
              <a:t>① Basics of Quantum Computing</a:t>
            </a:r>
          </a:p>
        </p:txBody>
      </p:sp>
      <p:sp>
        <p:nvSpPr>
          <p:cNvPr id="9" name="Rectangle 8"/>
          <p:cNvSpPr/>
          <p:nvPr/>
        </p:nvSpPr>
        <p:spPr>
          <a:xfrm>
            <a:off x="411480" y="2139696"/>
            <a:ext cx="118872" cy="118872"/>
          </a:xfrm>
          <a:prstGeom prst="rect">
            <a:avLst/>
          </a:prstGeom>
          <a:solidFill>
            <a:srgbClr val="5BC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1984248"/>
            <a:ext cx="10972800" cy="548640"/>
          </a:xfrm>
          <a:prstGeom prst="rect">
            <a:avLst/>
          </a:prstGeom>
          <a:noFill/>
        </p:spPr>
        <p:txBody>
          <a:bodyPr wrap="square">
            <a:spAutoFit/>
          </a:bodyPr>
          <a:lstStyle/>
          <a:p>
            <a:pPr algn="l"/>
            <a:r>
              <a:rPr sz="2000" b="0">
                <a:solidFill>
                  <a:srgbClr val="FFFFFF"/>
                </a:solidFill>
              </a:rPr>
              <a:t>② Limitations of Classical Cryptography</a:t>
            </a:r>
          </a:p>
        </p:txBody>
      </p:sp>
      <p:sp>
        <p:nvSpPr>
          <p:cNvPr id="11" name="Rectangle 10"/>
          <p:cNvSpPr/>
          <p:nvPr/>
        </p:nvSpPr>
        <p:spPr>
          <a:xfrm>
            <a:off x="411480" y="2798064"/>
            <a:ext cx="118872" cy="118872"/>
          </a:xfrm>
          <a:prstGeom prst="rect">
            <a:avLst/>
          </a:prstGeom>
          <a:solidFill>
            <a:srgbClr val="5BC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2642616"/>
            <a:ext cx="10972800" cy="548640"/>
          </a:xfrm>
          <a:prstGeom prst="rect">
            <a:avLst/>
          </a:prstGeom>
          <a:noFill/>
        </p:spPr>
        <p:txBody>
          <a:bodyPr wrap="square">
            <a:spAutoFit/>
          </a:bodyPr>
          <a:lstStyle/>
          <a:p>
            <a:pPr algn="l"/>
            <a:r>
              <a:rPr sz="2000" b="0">
                <a:solidFill>
                  <a:srgbClr val="FFFFFF"/>
                </a:solidFill>
              </a:rPr>
              <a:t>③ Quantum Cryptography &amp; QKD</a:t>
            </a:r>
          </a:p>
        </p:txBody>
      </p:sp>
      <p:sp>
        <p:nvSpPr>
          <p:cNvPr id="13" name="Rectangle 12"/>
          <p:cNvSpPr/>
          <p:nvPr/>
        </p:nvSpPr>
        <p:spPr>
          <a:xfrm>
            <a:off x="411480" y="3456432"/>
            <a:ext cx="118872" cy="118872"/>
          </a:xfrm>
          <a:prstGeom prst="rect">
            <a:avLst/>
          </a:prstGeom>
          <a:solidFill>
            <a:srgbClr val="5BC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3300984"/>
            <a:ext cx="10972800" cy="548640"/>
          </a:xfrm>
          <a:prstGeom prst="rect">
            <a:avLst/>
          </a:prstGeom>
          <a:noFill/>
        </p:spPr>
        <p:txBody>
          <a:bodyPr wrap="square">
            <a:spAutoFit/>
          </a:bodyPr>
          <a:lstStyle/>
          <a:p>
            <a:pPr algn="l"/>
            <a:r>
              <a:rPr sz="2000" b="0">
                <a:solidFill>
                  <a:srgbClr val="FFFFFF"/>
                </a:solidFill>
              </a:rPr>
              <a:t>④ BB84 Protocol</a:t>
            </a:r>
          </a:p>
        </p:txBody>
      </p:sp>
      <p:sp>
        <p:nvSpPr>
          <p:cNvPr id="15" name="Rectangle 14"/>
          <p:cNvSpPr/>
          <p:nvPr/>
        </p:nvSpPr>
        <p:spPr>
          <a:xfrm>
            <a:off x="411480" y="4114800"/>
            <a:ext cx="118872" cy="118872"/>
          </a:xfrm>
          <a:prstGeom prst="rect">
            <a:avLst/>
          </a:prstGeom>
          <a:solidFill>
            <a:srgbClr val="5BC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3959352"/>
            <a:ext cx="10972800" cy="548640"/>
          </a:xfrm>
          <a:prstGeom prst="rect">
            <a:avLst/>
          </a:prstGeom>
          <a:noFill/>
        </p:spPr>
        <p:txBody>
          <a:bodyPr wrap="square">
            <a:spAutoFit/>
          </a:bodyPr>
          <a:lstStyle/>
          <a:p>
            <a:pPr algn="l"/>
            <a:r>
              <a:rPr sz="2000" b="0">
                <a:solidFill>
                  <a:srgbClr val="FFFFFF"/>
                </a:solidFill>
              </a:rPr>
              <a:t>⑤ Hands-on Implementation with Qiskit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2880" cy="6858000"/>
          </a:xfrm>
          <a:prstGeom prst="rect">
            <a:avLst/>
          </a:prstGeom>
          <a:solidFill>
            <a:srgbClr val="5BC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75704"/>
            <a:ext cx="12188952" cy="8229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606040"/>
            <a:ext cx="10972800" cy="594360"/>
          </a:xfrm>
          <a:prstGeom prst="rect">
            <a:avLst/>
          </a:prstGeom>
          <a:noFill/>
        </p:spPr>
        <p:txBody>
          <a:bodyPr wrap="square">
            <a:spAutoFit/>
          </a:bodyPr>
          <a:lstStyle/>
          <a:p>
            <a:pPr algn="l"/>
            <a:r>
              <a:rPr sz="2000" b="1">
                <a:solidFill>
                  <a:srgbClr val="5BCEFA"/>
                </a:solidFill>
              </a:rPr>
              <a:t>Part 1</a:t>
            </a:r>
          </a:p>
        </p:txBody>
      </p:sp>
      <p:sp>
        <p:nvSpPr>
          <p:cNvPr id="6" name="TextBox 5"/>
          <p:cNvSpPr txBox="1"/>
          <p:nvPr/>
        </p:nvSpPr>
        <p:spPr>
          <a:xfrm>
            <a:off x="502920" y="3154680"/>
            <a:ext cx="10972800" cy="1005840"/>
          </a:xfrm>
          <a:prstGeom prst="rect">
            <a:avLst/>
          </a:prstGeom>
          <a:noFill/>
        </p:spPr>
        <p:txBody>
          <a:bodyPr wrap="square">
            <a:spAutoFit/>
          </a:bodyPr>
          <a:lstStyle/>
          <a:p>
            <a:pPr algn="l"/>
            <a:r>
              <a:rPr sz="4000" b="1">
                <a:solidFill>
                  <a:srgbClr val="FFFFFF"/>
                </a:solidFill>
              </a:rPr>
              <a:t>Quantum Computing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
          </a:xfrm>
          <a:prstGeom prst="rect">
            <a:avLst/>
          </a:prstGeom>
          <a:solidFill>
            <a:srgbClr val="5BC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75704"/>
            <a:ext cx="12188952" cy="8229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82296"/>
            <a:ext cx="12188952" cy="1005840"/>
          </a:xfrm>
          <a:prstGeom prst="rect">
            <a:avLst/>
          </a:prstGeom>
          <a:solidFill>
            <a:srgbClr val="132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46304"/>
            <a:ext cx="11430000" cy="822960"/>
          </a:xfrm>
          <a:prstGeom prst="rect">
            <a:avLst/>
          </a:prstGeom>
          <a:noFill/>
        </p:spPr>
        <p:txBody>
          <a:bodyPr wrap="square">
            <a:spAutoFit/>
          </a:bodyPr>
          <a:lstStyle/>
          <a:p>
            <a:pPr algn="l"/>
            <a:r>
              <a:rPr sz="2600" b="1">
                <a:solidFill>
                  <a:srgbClr val="FFFFFF"/>
                </a:solidFill>
              </a:rPr>
              <a:t>What Is Quantum Computing?</a:t>
            </a:r>
          </a:p>
        </p:txBody>
      </p:sp>
      <p:sp>
        <p:nvSpPr>
          <p:cNvPr id="7" name="Rectangle 6"/>
          <p:cNvSpPr/>
          <p:nvPr/>
        </p:nvSpPr>
        <p:spPr>
          <a:xfrm>
            <a:off x="411480" y="1435608"/>
            <a:ext cx="118872" cy="118872"/>
          </a:xfrm>
          <a:prstGeom prst="rect">
            <a:avLst/>
          </a:prstGeom>
          <a:solidFill>
            <a:srgbClr val="5BC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1280160"/>
            <a:ext cx="11155680" cy="530352"/>
          </a:xfrm>
          <a:prstGeom prst="rect">
            <a:avLst/>
          </a:prstGeom>
          <a:noFill/>
        </p:spPr>
        <p:txBody>
          <a:bodyPr wrap="square">
            <a:spAutoFit/>
          </a:bodyPr>
          <a:lstStyle/>
          <a:p>
            <a:pPr algn="l"/>
            <a:r>
              <a:rPr sz="1800" b="0">
                <a:solidFill>
                  <a:srgbClr val="FFFFFF"/>
                </a:solidFill>
              </a:rPr>
              <a:t>Uses quantum phenomena to process data massively in parallel</a:t>
            </a:r>
          </a:p>
        </p:txBody>
      </p:sp>
      <p:sp>
        <p:nvSpPr>
          <p:cNvPr id="9" name="Rectangle 8"/>
          <p:cNvSpPr/>
          <p:nvPr/>
        </p:nvSpPr>
        <p:spPr>
          <a:xfrm>
            <a:off x="411480" y="2093976"/>
            <a:ext cx="118872" cy="118872"/>
          </a:xfrm>
          <a:prstGeom prst="rect">
            <a:avLst/>
          </a:prstGeom>
          <a:solidFill>
            <a:srgbClr val="5BC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1938528"/>
            <a:ext cx="11155680" cy="530352"/>
          </a:xfrm>
          <a:prstGeom prst="rect">
            <a:avLst/>
          </a:prstGeom>
          <a:noFill/>
        </p:spPr>
        <p:txBody>
          <a:bodyPr wrap="square">
            <a:spAutoFit/>
          </a:bodyPr>
          <a:lstStyle/>
          <a:p>
            <a:pPr algn="l"/>
            <a:r>
              <a:rPr sz="1800" b="0">
                <a:solidFill>
                  <a:srgbClr val="FFFFFF"/>
                </a:solidFill>
              </a:rPr>
              <a:t>Computation speed: exponentially faster than classical computers</a:t>
            </a:r>
          </a:p>
        </p:txBody>
      </p:sp>
      <p:sp>
        <p:nvSpPr>
          <p:cNvPr id="11" name="Rectangle 10"/>
          <p:cNvSpPr/>
          <p:nvPr/>
        </p:nvSpPr>
        <p:spPr>
          <a:xfrm>
            <a:off x="411480" y="2752344"/>
            <a:ext cx="118872" cy="118872"/>
          </a:xfrm>
          <a:prstGeom prst="rect">
            <a:avLst/>
          </a:prstGeom>
          <a:solidFill>
            <a:srgbClr val="5BC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2596896"/>
            <a:ext cx="11155680" cy="530352"/>
          </a:xfrm>
          <a:prstGeom prst="rect">
            <a:avLst/>
          </a:prstGeom>
          <a:noFill/>
        </p:spPr>
        <p:txBody>
          <a:bodyPr wrap="square">
            <a:spAutoFit/>
          </a:bodyPr>
          <a:lstStyle/>
          <a:p>
            <a:pPr algn="l"/>
            <a:r>
              <a:rPr sz="1800" b="0">
                <a:solidFill>
                  <a:srgbClr val="FFFFFF"/>
                </a:solidFill>
              </a:rPr>
              <a:t>Google's quantum supremacy — solved a 10.7-trillion-year problem in 5 min</a:t>
            </a:r>
          </a:p>
        </p:txBody>
      </p:sp>
      <p:sp>
        <p:nvSpPr>
          <p:cNvPr id="13" name="Rectangle 12"/>
          <p:cNvSpPr/>
          <p:nvPr/>
        </p:nvSpPr>
        <p:spPr>
          <a:xfrm>
            <a:off x="411480" y="3410712"/>
            <a:ext cx="118872" cy="118872"/>
          </a:xfrm>
          <a:prstGeom prst="rect">
            <a:avLst/>
          </a:prstGeom>
          <a:solidFill>
            <a:srgbClr val="5BC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3255264"/>
            <a:ext cx="11155680" cy="530352"/>
          </a:xfrm>
          <a:prstGeom prst="rect">
            <a:avLst/>
          </a:prstGeom>
          <a:noFill/>
        </p:spPr>
        <p:txBody>
          <a:bodyPr wrap="square">
            <a:spAutoFit/>
          </a:bodyPr>
          <a:lstStyle/>
          <a:p>
            <a:pPr algn="l"/>
            <a:r>
              <a:rPr sz="1800" b="0">
                <a:solidFill>
                  <a:srgbClr val="FFFFFF"/>
                </a:solidFill>
              </a:rPr>
              <a:t>Driving huge investments from companies worldwide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2880" cy="6858000"/>
          </a:xfrm>
          <a:prstGeom prst="rect">
            <a:avLst/>
          </a:prstGeom>
          <a:solidFill>
            <a:srgbClr val="5BC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75704"/>
            <a:ext cx="12188952" cy="8229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606040"/>
            <a:ext cx="10972800" cy="594360"/>
          </a:xfrm>
          <a:prstGeom prst="rect">
            <a:avLst/>
          </a:prstGeom>
          <a:noFill/>
        </p:spPr>
        <p:txBody>
          <a:bodyPr wrap="square">
            <a:spAutoFit/>
          </a:bodyPr>
          <a:lstStyle/>
          <a:p>
            <a:pPr algn="l"/>
            <a:r>
              <a:rPr sz="2000" b="1">
                <a:solidFill>
                  <a:srgbClr val="5BCEFA"/>
                </a:solidFill>
              </a:rPr>
              <a:t>Part 2</a:t>
            </a:r>
          </a:p>
        </p:txBody>
      </p:sp>
      <p:sp>
        <p:nvSpPr>
          <p:cNvPr id="6" name="TextBox 5"/>
          <p:cNvSpPr txBox="1"/>
          <p:nvPr/>
        </p:nvSpPr>
        <p:spPr>
          <a:xfrm>
            <a:off x="502920" y="3154680"/>
            <a:ext cx="10972800" cy="1005840"/>
          </a:xfrm>
          <a:prstGeom prst="rect">
            <a:avLst/>
          </a:prstGeom>
          <a:noFill/>
        </p:spPr>
        <p:txBody>
          <a:bodyPr wrap="square">
            <a:spAutoFit/>
          </a:bodyPr>
          <a:lstStyle/>
          <a:p>
            <a:pPr algn="l"/>
            <a:r>
              <a:rPr sz="4000" b="1">
                <a:solidFill>
                  <a:srgbClr val="FFFFFF"/>
                </a:solidFill>
              </a:rPr>
              <a:t>Classical Cryptography &amp; Its Limits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
          </a:xfrm>
          <a:prstGeom prst="rect">
            <a:avLst/>
          </a:prstGeom>
          <a:solidFill>
            <a:srgbClr val="5BC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75704"/>
            <a:ext cx="12188952" cy="8229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82296"/>
            <a:ext cx="12188952" cy="1005840"/>
          </a:xfrm>
          <a:prstGeom prst="rect">
            <a:avLst/>
          </a:prstGeom>
          <a:solidFill>
            <a:srgbClr val="132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46304"/>
            <a:ext cx="11430000" cy="822960"/>
          </a:xfrm>
          <a:prstGeom prst="rect">
            <a:avLst/>
          </a:prstGeom>
          <a:noFill/>
        </p:spPr>
        <p:txBody>
          <a:bodyPr wrap="square">
            <a:spAutoFit/>
          </a:bodyPr>
          <a:lstStyle/>
          <a:p>
            <a:pPr algn="l"/>
            <a:r>
              <a:rPr sz="2600" b="1">
                <a:solidFill>
                  <a:srgbClr val="FFFFFF"/>
                </a:solidFill>
              </a:rPr>
              <a:t>How Classical Cryptography Works</a:t>
            </a:r>
          </a:p>
        </p:txBody>
      </p:sp>
      <p:sp>
        <p:nvSpPr>
          <p:cNvPr id="7" name="Rectangle 6"/>
          <p:cNvSpPr/>
          <p:nvPr/>
        </p:nvSpPr>
        <p:spPr>
          <a:xfrm>
            <a:off x="411480" y="1435608"/>
            <a:ext cx="118872" cy="118872"/>
          </a:xfrm>
          <a:prstGeom prst="rect">
            <a:avLst/>
          </a:prstGeom>
          <a:solidFill>
            <a:srgbClr val="5BC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1280160"/>
            <a:ext cx="11155680" cy="530352"/>
          </a:xfrm>
          <a:prstGeom prst="rect">
            <a:avLst/>
          </a:prstGeom>
          <a:noFill/>
        </p:spPr>
        <p:txBody>
          <a:bodyPr wrap="square">
            <a:spAutoFit/>
          </a:bodyPr>
          <a:lstStyle/>
          <a:p>
            <a:pPr algn="l"/>
            <a:r>
              <a:rPr sz="1800" b="0">
                <a:solidFill>
                  <a:srgbClr val="FFFFFF"/>
                </a:solidFill>
              </a:rPr>
              <a:t>Asymmetric public-key encryption — widely used today</a:t>
            </a:r>
          </a:p>
        </p:txBody>
      </p:sp>
      <p:sp>
        <p:nvSpPr>
          <p:cNvPr id="9" name="Rectangle 8"/>
          <p:cNvSpPr/>
          <p:nvPr/>
        </p:nvSpPr>
        <p:spPr>
          <a:xfrm>
            <a:off x="411480" y="2093976"/>
            <a:ext cx="118872" cy="118872"/>
          </a:xfrm>
          <a:prstGeom prst="rect">
            <a:avLst/>
          </a:prstGeom>
          <a:solidFill>
            <a:srgbClr val="5BC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1938528"/>
            <a:ext cx="11155680" cy="530352"/>
          </a:xfrm>
          <a:prstGeom prst="rect">
            <a:avLst/>
          </a:prstGeom>
          <a:noFill/>
        </p:spPr>
        <p:txBody>
          <a:bodyPr wrap="square">
            <a:spAutoFit/>
          </a:bodyPr>
          <a:lstStyle/>
          <a:p>
            <a:pPr algn="l"/>
            <a:r>
              <a:rPr sz="1800" b="0">
                <a:solidFill>
                  <a:srgbClr val="FFFFFF"/>
                </a:solidFill>
              </a:rPr>
              <a:t>Hard mathematical problem → used as the public key</a:t>
            </a:r>
          </a:p>
        </p:txBody>
      </p:sp>
      <p:sp>
        <p:nvSpPr>
          <p:cNvPr id="11" name="Rectangle 10"/>
          <p:cNvSpPr/>
          <p:nvPr/>
        </p:nvSpPr>
        <p:spPr>
          <a:xfrm>
            <a:off x="411480" y="2752344"/>
            <a:ext cx="118872" cy="118872"/>
          </a:xfrm>
          <a:prstGeom prst="rect">
            <a:avLst/>
          </a:prstGeom>
          <a:solidFill>
            <a:srgbClr val="5BC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2596896"/>
            <a:ext cx="11155680" cy="530352"/>
          </a:xfrm>
          <a:prstGeom prst="rect">
            <a:avLst/>
          </a:prstGeom>
          <a:noFill/>
        </p:spPr>
        <p:txBody>
          <a:bodyPr wrap="square">
            <a:spAutoFit/>
          </a:bodyPr>
          <a:lstStyle/>
          <a:p>
            <a:pPr algn="l"/>
            <a:r>
              <a:rPr sz="1800" b="0">
                <a:solidFill>
                  <a:srgbClr val="FFFFFF"/>
                </a:solidFill>
              </a:rPr>
              <a:t>Only the holder of the private key can decrypt</a:t>
            </a:r>
          </a:p>
        </p:txBody>
      </p:sp>
      <p:sp>
        <p:nvSpPr>
          <p:cNvPr id="13" name="Rectangle 12"/>
          <p:cNvSpPr/>
          <p:nvPr/>
        </p:nvSpPr>
        <p:spPr>
          <a:xfrm>
            <a:off x="411480" y="3410712"/>
            <a:ext cx="118872" cy="118872"/>
          </a:xfrm>
          <a:prstGeom prst="rect">
            <a:avLst/>
          </a:prstGeom>
          <a:solidFill>
            <a:srgbClr val="5BC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3255264"/>
            <a:ext cx="11155680" cy="530352"/>
          </a:xfrm>
          <a:prstGeom prst="rect">
            <a:avLst/>
          </a:prstGeom>
          <a:noFill/>
        </p:spPr>
        <p:txBody>
          <a:bodyPr wrap="square">
            <a:spAutoFit/>
          </a:bodyPr>
          <a:lstStyle/>
          <a:p>
            <a:pPr algn="l"/>
            <a:r>
              <a:rPr sz="1800" b="0">
                <a:solidFill>
                  <a:srgbClr val="FFFFFF"/>
                </a:solidFill>
              </a:rPr>
              <a:t>Security = computational complexity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
          </a:xfrm>
          <a:prstGeom prst="rect">
            <a:avLst/>
          </a:prstGeom>
          <a:solidFill>
            <a:srgbClr val="5BC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75704"/>
            <a:ext cx="12188952" cy="8229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82296"/>
            <a:ext cx="12188952" cy="1005840"/>
          </a:xfrm>
          <a:prstGeom prst="rect">
            <a:avLst/>
          </a:prstGeom>
          <a:solidFill>
            <a:srgbClr val="132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46304"/>
            <a:ext cx="11430000" cy="822960"/>
          </a:xfrm>
          <a:prstGeom prst="rect">
            <a:avLst/>
          </a:prstGeom>
          <a:noFill/>
        </p:spPr>
        <p:txBody>
          <a:bodyPr wrap="square">
            <a:spAutoFit/>
          </a:bodyPr>
          <a:lstStyle/>
          <a:p>
            <a:pPr algn="l"/>
            <a:r>
              <a:rPr sz="2600" b="1">
                <a:solidFill>
                  <a:srgbClr val="FFFFFF"/>
                </a:solidFill>
              </a:rPr>
              <a:t>RSA &amp; Integer Factorization</a:t>
            </a:r>
          </a:p>
        </p:txBody>
      </p:sp>
      <p:sp>
        <p:nvSpPr>
          <p:cNvPr id="7" name="Rectangle 6"/>
          <p:cNvSpPr/>
          <p:nvPr/>
        </p:nvSpPr>
        <p:spPr>
          <a:xfrm>
            <a:off x="411480" y="1435608"/>
            <a:ext cx="118872" cy="118872"/>
          </a:xfrm>
          <a:prstGeom prst="rect">
            <a:avLst/>
          </a:prstGeom>
          <a:solidFill>
            <a:srgbClr val="5BC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1280160"/>
            <a:ext cx="11155680" cy="530352"/>
          </a:xfrm>
          <a:prstGeom prst="rect">
            <a:avLst/>
          </a:prstGeom>
          <a:noFill/>
        </p:spPr>
        <p:txBody>
          <a:bodyPr wrap="square">
            <a:spAutoFit/>
          </a:bodyPr>
          <a:lstStyle/>
          <a:p>
            <a:pPr algn="l"/>
            <a:r>
              <a:rPr sz="1800" b="0">
                <a:solidFill>
                  <a:srgbClr val="FFFFFF"/>
                </a:solidFill>
              </a:rPr>
              <a:t>RSA uses the integer factorization problem</a:t>
            </a:r>
          </a:p>
        </p:txBody>
      </p:sp>
      <p:sp>
        <p:nvSpPr>
          <p:cNvPr id="9" name="Rectangle 8"/>
          <p:cNvSpPr/>
          <p:nvPr/>
        </p:nvSpPr>
        <p:spPr>
          <a:xfrm>
            <a:off x="411480" y="2093976"/>
            <a:ext cx="118872" cy="118872"/>
          </a:xfrm>
          <a:prstGeom prst="rect">
            <a:avLst/>
          </a:prstGeom>
          <a:solidFill>
            <a:srgbClr val="5BC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1938528"/>
            <a:ext cx="11155680" cy="530352"/>
          </a:xfrm>
          <a:prstGeom prst="rect">
            <a:avLst/>
          </a:prstGeom>
          <a:noFill/>
        </p:spPr>
        <p:txBody>
          <a:bodyPr wrap="square">
            <a:spAutoFit/>
          </a:bodyPr>
          <a:lstStyle/>
          <a:p>
            <a:pPr algn="l"/>
            <a:r>
              <a:rPr sz="1800" b="0">
                <a:solidFill>
                  <a:srgbClr val="FFFFFF"/>
                </a:solidFill>
              </a:rPr>
              <a:t>Time to solve grows exponentially with problem size</a:t>
            </a:r>
          </a:p>
        </p:txBody>
      </p:sp>
      <p:sp>
        <p:nvSpPr>
          <p:cNvPr id="11" name="Rectangle 10"/>
          <p:cNvSpPr/>
          <p:nvPr/>
        </p:nvSpPr>
        <p:spPr>
          <a:xfrm>
            <a:off x="411480" y="2752344"/>
            <a:ext cx="118872" cy="118872"/>
          </a:xfrm>
          <a:prstGeom prst="rect">
            <a:avLst/>
          </a:prstGeom>
          <a:solidFill>
            <a:srgbClr val="5BC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2596896"/>
            <a:ext cx="11155680" cy="530352"/>
          </a:xfrm>
          <a:prstGeom prst="rect">
            <a:avLst/>
          </a:prstGeom>
          <a:noFill/>
        </p:spPr>
        <p:txBody>
          <a:bodyPr wrap="square">
            <a:spAutoFit/>
          </a:bodyPr>
          <a:lstStyle/>
          <a:p>
            <a:pPr algn="l"/>
            <a:r>
              <a:rPr sz="1800" b="0">
                <a:solidFill>
                  <a:srgbClr val="FFFFFF"/>
                </a:solidFill>
              </a:rPr>
              <a:t>Large enough key → practically impossible for eavesdroppers to break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
          </a:xfrm>
          <a:prstGeom prst="rect">
            <a:avLst/>
          </a:prstGeom>
          <a:solidFill>
            <a:srgbClr val="5BC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75704"/>
            <a:ext cx="12188952" cy="8229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82296"/>
            <a:ext cx="12188952" cy="1005840"/>
          </a:xfrm>
          <a:prstGeom prst="rect">
            <a:avLst/>
          </a:prstGeom>
          <a:solidFill>
            <a:srgbClr val="132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46304"/>
            <a:ext cx="11430000" cy="822960"/>
          </a:xfrm>
          <a:prstGeom prst="rect">
            <a:avLst/>
          </a:prstGeom>
          <a:noFill/>
        </p:spPr>
        <p:txBody>
          <a:bodyPr wrap="square">
            <a:spAutoFit/>
          </a:bodyPr>
          <a:lstStyle/>
          <a:p>
            <a:pPr algn="l"/>
            <a:r>
              <a:rPr sz="2600" b="1">
                <a:solidFill>
                  <a:srgbClr val="FFFFFF"/>
                </a:solidFill>
              </a:rPr>
              <a:t>The Quantum Threat</a:t>
            </a:r>
          </a:p>
        </p:txBody>
      </p:sp>
      <p:sp>
        <p:nvSpPr>
          <p:cNvPr id="7" name="Rectangle 6"/>
          <p:cNvSpPr/>
          <p:nvPr/>
        </p:nvSpPr>
        <p:spPr>
          <a:xfrm>
            <a:off x="411480" y="1435608"/>
            <a:ext cx="118872" cy="118872"/>
          </a:xfrm>
          <a:prstGeom prst="rect">
            <a:avLst/>
          </a:prstGeom>
          <a:solidFill>
            <a:srgbClr val="5BC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1280160"/>
            <a:ext cx="11155680" cy="530352"/>
          </a:xfrm>
          <a:prstGeom prst="rect">
            <a:avLst/>
          </a:prstGeom>
          <a:noFill/>
        </p:spPr>
        <p:txBody>
          <a:bodyPr wrap="square">
            <a:spAutoFit/>
          </a:bodyPr>
          <a:lstStyle/>
          <a:p>
            <a:pPr algn="l"/>
            <a:r>
              <a:rPr sz="1800" b="0">
                <a:solidFill>
                  <a:srgbClr val="FFFFFF"/>
                </a:solidFill>
              </a:rPr>
              <a:t>Classical crypto relies on 'decryption takes too long'</a:t>
            </a:r>
          </a:p>
        </p:txBody>
      </p:sp>
      <p:sp>
        <p:nvSpPr>
          <p:cNvPr id="9" name="Rectangle 8"/>
          <p:cNvSpPr/>
          <p:nvPr/>
        </p:nvSpPr>
        <p:spPr>
          <a:xfrm>
            <a:off x="411480" y="2093976"/>
            <a:ext cx="118872" cy="118872"/>
          </a:xfrm>
          <a:prstGeom prst="rect">
            <a:avLst/>
          </a:prstGeom>
          <a:solidFill>
            <a:srgbClr val="5BC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1938528"/>
            <a:ext cx="11155680" cy="530352"/>
          </a:xfrm>
          <a:prstGeom prst="rect">
            <a:avLst/>
          </a:prstGeom>
          <a:noFill/>
        </p:spPr>
        <p:txBody>
          <a:bodyPr wrap="square">
            <a:spAutoFit/>
          </a:bodyPr>
          <a:lstStyle/>
          <a:p>
            <a:pPr algn="l"/>
            <a:r>
              <a:rPr sz="1800" b="0">
                <a:solidFill>
                  <a:srgbClr val="FFFFFF"/>
                </a:solidFill>
              </a:rPr>
              <a:t>Quantum computers can solve hard math problems almost instantly</a:t>
            </a:r>
          </a:p>
        </p:txBody>
      </p:sp>
      <p:sp>
        <p:nvSpPr>
          <p:cNvPr id="11" name="Rectangle 10"/>
          <p:cNvSpPr/>
          <p:nvPr/>
        </p:nvSpPr>
        <p:spPr>
          <a:xfrm>
            <a:off x="411480" y="2752344"/>
            <a:ext cx="118872" cy="118872"/>
          </a:xfrm>
          <a:prstGeom prst="rect">
            <a:avLst/>
          </a:prstGeom>
          <a:solidFill>
            <a:srgbClr val="5BC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2596896"/>
            <a:ext cx="11155680" cy="530352"/>
          </a:xfrm>
          <a:prstGeom prst="rect">
            <a:avLst/>
          </a:prstGeom>
          <a:noFill/>
        </p:spPr>
        <p:txBody>
          <a:bodyPr wrap="square">
            <a:spAutoFit/>
          </a:bodyPr>
          <a:lstStyle/>
          <a:p>
            <a:pPr algn="l"/>
            <a:r>
              <a:rPr sz="1800" b="0">
                <a:solidFill>
                  <a:srgbClr val="FFFFFF"/>
                </a:solidFill>
              </a:rPr>
              <a:t>Existing cryptographic systems can no longer be guaranteed safe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2880" cy="6858000"/>
          </a:xfrm>
          <a:prstGeom prst="rect">
            <a:avLst/>
          </a:prstGeom>
          <a:solidFill>
            <a:srgbClr val="5BC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75704"/>
            <a:ext cx="12188952" cy="8229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606040"/>
            <a:ext cx="10972800" cy="594360"/>
          </a:xfrm>
          <a:prstGeom prst="rect">
            <a:avLst/>
          </a:prstGeom>
          <a:noFill/>
        </p:spPr>
        <p:txBody>
          <a:bodyPr wrap="square">
            <a:spAutoFit/>
          </a:bodyPr>
          <a:lstStyle/>
          <a:p>
            <a:pPr algn="l"/>
            <a:r>
              <a:rPr sz="2000" b="1">
                <a:solidFill>
                  <a:srgbClr val="5BCEFA"/>
                </a:solidFill>
              </a:rPr>
              <a:t>Part 3</a:t>
            </a:r>
          </a:p>
        </p:txBody>
      </p:sp>
      <p:sp>
        <p:nvSpPr>
          <p:cNvPr id="6" name="TextBox 5"/>
          <p:cNvSpPr txBox="1"/>
          <p:nvPr/>
        </p:nvSpPr>
        <p:spPr>
          <a:xfrm>
            <a:off x="502920" y="3154680"/>
            <a:ext cx="10972800" cy="1005840"/>
          </a:xfrm>
          <a:prstGeom prst="rect">
            <a:avLst/>
          </a:prstGeom>
          <a:noFill/>
        </p:spPr>
        <p:txBody>
          <a:bodyPr wrap="square">
            <a:spAutoFit/>
          </a:bodyPr>
          <a:lstStyle/>
          <a:p>
            <a:pPr algn="l"/>
            <a:r>
              <a:rPr sz="4000" b="1">
                <a:solidFill>
                  <a:srgbClr val="FFFFFF"/>
                </a:solidFill>
              </a:rPr>
              <a:t>Quantum Cryptography &amp; QKD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
          </a:xfrm>
          <a:prstGeom prst="rect">
            <a:avLst/>
          </a:prstGeom>
          <a:solidFill>
            <a:srgbClr val="5BC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75704"/>
            <a:ext cx="12188952" cy="8229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82296"/>
            <a:ext cx="12188952" cy="1005840"/>
          </a:xfrm>
          <a:prstGeom prst="rect">
            <a:avLst/>
          </a:prstGeom>
          <a:solidFill>
            <a:srgbClr val="132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46304"/>
            <a:ext cx="11430000" cy="822960"/>
          </a:xfrm>
          <a:prstGeom prst="rect">
            <a:avLst/>
          </a:prstGeom>
          <a:noFill/>
        </p:spPr>
        <p:txBody>
          <a:bodyPr wrap="square">
            <a:spAutoFit/>
          </a:bodyPr>
          <a:lstStyle/>
          <a:p>
            <a:pPr algn="l"/>
            <a:r>
              <a:rPr sz="2600" b="1">
                <a:solidFill>
                  <a:srgbClr val="FFFFFF"/>
                </a:solidFill>
              </a:rPr>
              <a:t>Quantum Cryptography as the Solution</a:t>
            </a:r>
          </a:p>
        </p:txBody>
      </p:sp>
      <p:sp>
        <p:nvSpPr>
          <p:cNvPr id="7" name="Rectangle 6"/>
          <p:cNvSpPr/>
          <p:nvPr/>
        </p:nvSpPr>
        <p:spPr>
          <a:xfrm>
            <a:off x="411480" y="1435608"/>
            <a:ext cx="118872" cy="118872"/>
          </a:xfrm>
          <a:prstGeom prst="rect">
            <a:avLst/>
          </a:prstGeom>
          <a:solidFill>
            <a:srgbClr val="5BC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1280160"/>
            <a:ext cx="11155680" cy="530352"/>
          </a:xfrm>
          <a:prstGeom prst="rect">
            <a:avLst/>
          </a:prstGeom>
          <a:noFill/>
        </p:spPr>
        <p:txBody>
          <a:bodyPr wrap="square">
            <a:spAutoFit/>
          </a:bodyPr>
          <a:lstStyle/>
          <a:p>
            <a:pPr algn="l"/>
            <a:r>
              <a:rPr sz="1800" b="0">
                <a:solidFill>
                  <a:srgbClr val="FFFFFF"/>
                </a:solidFill>
              </a:rPr>
              <a:t>Transmit the encryption key using the laws of quantum mechanics</a:t>
            </a:r>
          </a:p>
        </p:txBody>
      </p:sp>
      <p:sp>
        <p:nvSpPr>
          <p:cNvPr id="9" name="Rectangle 8"/>
          <p:cNvSpPr/>
          <p:nvPr/>
        </p:nvSpPr>
        <p:spPr>
          <a:xfrm>
            <a:off x="411480" y="2093976"/>
            <a:ext cx="118872" cy="118872"/>
          </a:xfrm>
          <a:prstGeom prst="rect">
            <a:avLst/>
          </a:prstGeom>
          <a:solidFill>
            <a:srgbClr val="5BC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1938528"/>
            <a:ext cx="11155680" cy="530352"/>
          </a:xfrm>
          <a:prstGeom prst="rect">
            <a:avLst/>
          </a:prstGeom>
          <a:noFill/>
        </p:spPr>
        <p:txBody>
          <a:bodyPr wrap="square">
            <a:spAutoFit/>
          </a:bodyPr>
          <a:lstStyle/>
          <a:p>
            <a:pPr algn="l"/>
            <a:r>
              <a:rPr sz="1800" b="0">
                <a:solidFill>
                  <a:srgbClr val="FFFFFF"/>
                </a:solidFill>
              </a:rPr>
              <a:t>Eavesdropping becomes physically impossible</a:t>
            </a:r>
          </a:p>
        </p:txBody>
      </p:sp>
      <p:sp>
        <p:nvSpPr>
          <p:cNvPr id="11" name="Rectangle 10"/>
          <p:cNvSpPr/>
          <p:nvPr/>
        </p:nvSpPr>
        <p:spPr>
          <a:xfrm>
            <a:off x="411480" y="2752344"/>
            <a:ext cx="118872" cy="118872"/>
          </a:xfrm>
          <a:prstGeom prst="rect">
            <a:avLst/>
          </a:prstGeom>
          <a:solidFill>
            <a:srgbClr val="5BC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2596896"/>
            <a:ext cx="11155680" cy="530352"/>
          </a:xfrm>
          <a:prstGeom prst="rect">
            <a:avLst/>
          </a:prstGeom>
          <a:noFill/>
        </p:spPr>
        <p:txBody>
          <a:bodyPr wrap="square">
            <a:spAutoFit/>
          </a:bodyPr>
          <a:lstStyle/>
          <a:p>
            <a:pPr algn="l"/>
            <a:r>
              <a:rPr sz="1800" b="0">
                <a:solidFill>
                  <a:srgbClr val="FFFFFF"/>
                </a:solidFill>
              </a:rPr>
              <a:t>Security grounded in physical principles — not computational difficulty</a:t>
            </a:r>
          </a:p>
        </p:txBody>
      </p:sp>
      <p:sp>
        <p:nvSpPr>
          <p:cNvPr id="13" name="Rectangle 12"/>
          <p:cNvSpPr/>
          <p:nvPr/>
        </p:nvSpPr>
        <p:spPr>
          <a:xfrm>
            <a:off x="411480" y="3410712"/>
            <a:ext cx="118872" cy="118872"/>
          </a:xfrm>
          <a:prstGeom prst="rect">
            <a:avLst/>
          </a:prstGeom>
          <a:solidFill>
            <a:srgbClr val="5BC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3255264"/>
            <a:ext cx="11155680" cy="530352"/>
          </a:xfrm>
          <a:prstGeom prst="rect">
            <a:avLst/>
          </a:prstGeom>
          <a:noFill/>
        </p:spPr>
        <p:txBody>
          <a:bodyPr wrap="square">
            <a:spAutoFit/>
          </a:bodyPr>
          <a:lstStyle/>
          <a:p>
            <a:pPr algn="l"/>
            <a:r>
              <a:rPr sz="1800" b="0">
                <a:solidFill>
                  <a:srgbClr val="FFFFFF"/>
                </a:solidFill>
              </a:rPr>
              <a:t>Safe regardless of quantum computing power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
          </a:xfrm>
          <a:prstGeom prst="rect">
            <a:avLst/>
          </a:prstGeom>
          <a:solidFill>
            <a:srgbClr val="5BC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75704"/>
            <a:ext cx="12188952" cy="8229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82296"/>
            <a:ext cx="12188952" cy="1005840"/>
          </a:xfrm>
          <a:prstGeom prst="rect">
            <a:avLst/>
          </a:prstGeom>
          <a:solidFill>
            <a:srgbClr val="132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46304"/>
            <a:ext cx="11430000" cy="822960"/>
          </a:xfrm>
          <a:prstGeom prst="rect">
            <a:avLst/>
          </a:prstGeom>
          <a:noFill/>
        </p:spPr>
        <p:txBody>
          <a:bodyPr wrap="square">
            <a:spAutoFit/>
          </a:bodyPr>
          <a:lstStyle/>
          <a:p>
            <a:pPr algn="l"/>
            <a:r>
              <a:rPr sz="2600" b="1">
                <a:solidFill>
                  <a:srgbClr val="FFFFFF"/>
                </a:solidFill>
              </a:rPr>
              <a:t>Three Quantum Properties</a:t>
            </a:r>
          </a:p>
        </p:txBody>
      </p:sp>
      <p:sp>
        <p:nvSpPr>
          <p:cNvPr id="7" name="Rectangle 6"/>
          <p:cNvSpPr/>
          <p:nvPr/>
        </p:nvSpPr>
        <p:spPr>
          <a:xfrm>
            <a:off x="411480" y="1435608"/>
            <a:ext cx="118872" cy="118872"/>
          </a:xfrm>
          <a:prstGeom prst="rect">
            <a:avLst/>
          </a:prstGeom>
          <a:solidFill>
            <a:srgbClr val="5BC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1280160"/>
            <a:ext cx="11155680" cy="530352"/>
          </a:xfrm>
          <a:prstGeom prst="rect">
            <a:avLst/>
          </a:prstGeom>
          <a:noFill/>
        </p:spPr>
        <p:txBody>
          <a:bodyPr wrap="square">
            <a:spAutoFit/>
          </a:bodyPr>
          <a:lstStyle/>
          <a:p>
            <a:pPr algn="l"/>
            <a:r>
              <a:rPr sz="1800" b="0">
                <a:solidFill>
                  <a:srgbClr val="FFFFFF"/>
                </a:solidFill>
              </a:rPr>
              <a:t>Superposition — qubit holds 0 and 1 simultaneously; key values stay hidden</a:t>
            </a:r>
          </a:p>
        </p:txBody>
      </p:sp>
      <p:sp>
        <p:nvSpPr>
          <p:cNvPr id="9" name="Rectangle 8"/>
          <p:cNvSpPr/>
          <p:nvPr/>
        </p:nvSpPr>
        <p:spPr>
          <a:xfrm>
            <a:off x="411480" y="2093976"/>
            <a:ext cx="118872" cy="118872"/>
          </a:xfrm>
          <a:prstGeom prst="rect">
            <a:avLst/>
          </a:prstGeom>
          <a:solidFill>
            <a:srgbClr val="5BC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1938528"/>
            <a:ext cx="11155680" cy="530352"/>
          </a:xfrm>
          <a:prstGeom prst="rect">
            <a:avLst/>
          </a:prstGeom>
          <a:noFill/>
        </p:spPr>
        <p:txBody>
          <a:bodyPr wrap="square">
            <a:spAutoFit/>
          </a:bodyPr>
          <a:lstStyle/>
          <a:p>
            <a:pPr algn="l"/>
            <a:r>
              <a:rPr sz="1800" b="0">
                <a:solidFill>
                  <a:srgbClr val="FFFFFF"/>
                </a:solidFill>
              </a:rPr>
              <a:t>Measurement Uncertainty — measuring collapses the state; eavesdropping detectable</a:t>
            </a:r>
          </a:p>
        </p:txBody>
      </p:sp>
      <p:sp>
        <p:nvSpPr>
          <p:cNvPr id="11" name="Rectangle 10"/>
          <p:cNvSpPr/>
          <p:nvPr/>
        </p:nvSpPr>
        <p:spPr>
          <a:xfrm>
            <a:off x="411480" y="2752344"/>
            <a:ext cx="118872" cy="118872"/>
          </a:xfrm>
          <a:prstGeom prst="rect">
            <a:avLst/>
          </a:prstGeom>
          <a:solidFill>
            <a:srgbClr val="5BC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2596896"/>
            <a:ext cx="11155680" cy="530352"/>
          </a:xfrm>
          <a:prstGeom prst="rect">
            <a:avLst/>
          </a:prstGeom>
          <a:noFill/>
        </p:spPr>
        <p:txBody>
          <a:bodyPr wrap="square">
            <a:spAutoFit/>
          </a:bodyPr>
          <a:lstStyle/>
          <a:p>
            <a:pPr algn="l"/>
            <a:r>
              <a:rPr sz="1800" b="0">
                <a:solidFill>
                  <a:srgbClr val="FFFFFF"/>
                </a:solidFill>
              </a:rPr>
              <a:t>No-Cloning Theorem — arbitrary quantum information cannot be perfectly copied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
          </a:xfrm>
          <a:prstGeom prst="rect">
            <a:avLst/>
          </a:prstGeom>
          <a:solidFill>
            <a:srgbClr val="5BC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75704"/>
            <a:ext cx="12188952" cy="8229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82296"/>
            <a:ext cx="12188952" cy="1005840"/>
          </a:xfrm>
          <a:prstGeom prst="rect">
            <a:avLst/>
          </a:prstGeom>
          <a:solidFill>
            <a:srgbClr val="132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46304"/>
            <a:ext cx="11430000" cy="822960"/>
          </a:xfrm>
          <a:prstGeom prst="rect">
            <a:avLst/>
          </a:prstGeom>
          <a:noFill/>
        </p:spPr>
        <p:txBody>
          <a:bodyPr wrap="square">
            <a:spAutoFit/>
          </a:bodyPr>
          <a:lstStyle/>
          <a:p>
            <a:pPr algn="l"/>
            <a:r>
              <a:rPr sz="2600" b="1">
                <a:solidFill>
                  <a:srgbClr val="FFFFFF"/>
                </a:solidFill>
              </a:rPr>
              <a:t>QKD — Quantum Key Distribution</a:t>
            </a:r>
          </a:p>
        </p:txBody>
      </p:sp>
      <p:sp>
        <p:nvSpPr>
          <p:cNvPr id="7" name="Rectangle 6"/>
          <p:cNvSpPr/>
          <p:nvPr/>
        </p:nvSpPr>
        <p:spPr>
          <a:xfrm>
            <a:off x="411480" y="1435608"/>
            <a:ext cx="118872" cy="118872"/>
          </a:xfrm>
          <a:prstGeom prst="rect">
            <a:avLst/>
          </a:prstGeom>
          <a:solidFill>
            <a:srgbClr val="5BC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1280160"/>
            <a:ext cx="11155680" cy="530352"/>
          </a:xfrm>
          <a:prstGeom prst="rect">
            <a:avLst/>
          </a:prstGeom>
          <a:noFill/>
        </p:spPr>
        <p:txBody>
          <a:bodyPr wrap="square">
            <a:spAutoFit/>
          </a:bodyPr>
          <a:lstStyle/>
          <a:p>
            <a:pPr algn="l"/>
            <a:r>
              <a:rPr sz="1800" b="0">
                <a:solidFill>
                  <a:srgbClr val="FFFFFF"/>
                </a:solidFill>
              </a:rPr>
              <a:t>Distributes encryption keys securely in real time using quantum properties</a:t>
            </a:r>
          </a:p>
        </p:txBody>
      </p:sp>
      <p:sp>
        <p:nvSpPr>
          <p:cNvPr id="9" name="Rectangle 8"/>
          <p:cNvSpPr/>
          <p:nvPr/>
        </p:nvSpPr>
        <p:spPr>
          <a:xfrm>
            <a:off x="411480" y="2093976"/>
            <a:ext cx="118872" cy="118872"/>
          </a:xfrm>
          <a:prstGeom prst="rect">
            <a:avLst/>
          </a:prstGeom>
          <a:solidFill>
            <a:srgbClr val="5BC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1938528"/>
            <a:ext cx="11155680" cy="530352"/>
          </a:xfrm>
          <a:prstGeom prst="rect">
            <a:avLst/>
          </a:prstGeom>
          <a:noFill/>
        </p:spPr>
        <p:txBody>
          <a:bodyPr wrap="square">
            <a:spAutoFit/>
          </a:bodyPr>
          <a:lstStyle/>
          <a:p>
            <a:pPr algn="l"/>
            <a:r>
              <a:rPr sz="1800" b="0">
                <a:solidFill>
                  <a:srgbClr val="FFFFFF"/>
                </a:solidFill>
              </a:rPr>
              <a:t>Also known as QKD (Quantum Key Distribution)</a:t>
            </a:r>
          </a:p>
        </p:txBody>
      </p:sp>
      <p:sp>
        <p:nvSpPr>
          <p:cNvPr id="11" name="Rectangle 10"/>
          <p:cNvSpPr/>
          <p:nvPr/>
        </p:nvSpPr>
        <p:spPr>
          <a:xfrm>
            <a:off x="411480" y="2752344"/>
            <a:ext cx="118872" cy="118872"/>
          </a:xfrm>
          <a:prstGeom prst="rect">
            <a:avLst/>
          </a:prstGeom>
          <a:solidFill>
            <a:srgbClr val="5BC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2596896"/>
            <a:ext cx="11155680" cy="530352"/>
          </a:xfrm>
          <a:prstGeom prst="rect">
            <a:avLst/>
          </a:prstGeom>
          <a:noFill/>
        </p:spPr>
        <p:txBody>
          <a:bodyPr wrap="square">
            <a:spAutoFit/>
          </a:bodyPr>
          <a:lstStyle/>
          <a:p>
            <a:pPr algn="l"/>
            <a:r>
              <a:rPr sz="1800" b="0">
                <a:solidFill>
                  <a:srgbClr val="FFFFFF"/>
                </a:solidFill>
              </a:rPr>
              <a:t>BB84 is one of the most representative QKD protocols</a:t>
            </a:r>
          </a:p>
        </p:txBody>
      </p:sp>
      <p:sp>
        <p:nvSpPr>
          <p:cNvPr id="13" name="Rectangle 12"/>
          <p:cNvSpPr/>
          <p:nvPr/>
        </p:nvSpPr>
        <p:spPr>
          <a:xfrm>
            <a:off x="411480" y="3410712"/>
            <a:ext cx="118872" cy="118872"/>
          </a:xfrm>
          <a:prstGeom prst="rect">
            <a:avLst/>
          </a:prstGeom>
          <a:solidFill>
            <a:srgbClr val="5BC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3255264"/>
            <a:ext cx="11155680" cy="530352"/>
          </a:xfrm>
          <a:prstGeom prst="rect">
            <a:avLst/>
          </a:prstGeom>
          <a:noFill/>
        </p:spPr>
        <p:txBody>
          <a:bodyPr wrap="square">
            <a:spAutoFit/>
          </a:bodyPr>
          <a:lstStyle/>
          <a:p>
            <a:pPr algn="l"/>
            <a:r>
              <a:rPr sz="1800" b="0">
                <a:solidFill>
                  <a:srgbClr val="FFFFFF"/>
                </a:solidFill>
              </a:rPr>
              <a:t>Uses four quantum states for key distribution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2880" cy="6858000"/>
          </a:xfrm>
          <a:prstGeom prst="rect">
            <a:avLst/>
          </a:prstGeom>
          <a:solidFill>
            <a:srgbClr val="5BC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75704"/>
            <a:ext cx="12188952" cy="8229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606040"/>
            <a:ext cx="10972800" cy="594360"/>
          </a:xfrm>
          <a:prstGeom prst="rect">
            <a:avLst/>
          </a:prstGeom>
          <a:noFill/>
        </p:spPr>
        <p:txBody>
          <a:bodyPr wrap="square">
            <a:spAutoFit/>
          </a:bodyPr>
          <a:lstStyle/>
          <a:p>
            <a:pPr algn="l"/>
            <a:r>
              <a:rPr sz="2000" b="1">
                <a:solidFill>
                  <a:srgbClr val="5BCEFA"/>
                </a:solidFill>
              </a:rPr>
              <a:t>Part 4</a:t>
            </a:r>
          </a:p>
        </p:txBody>
      </p:sp>
      <p:sp>
        <p:nvSpPr>
          <p:cNvPr id="6" name="TextBox 5"/>
          <p:cNvSpPr txBox="1"/>
          <p:nvPr/>
        </p:nvSpPr>
        <p:spPr>
          <a:xfrm>
            <a:off x="502920" y="3154680"/>
            <a:ext cx="10972800" cy="1005840"/>
          </a:xfrm>
          <a:prstGeom prst="rect">
            <a:avLst/>
          </a:prstGeom>
          <a:noFill/>
        </p:spPr>
        <p:txBody>
          <a:bodyPr wrap="square">
            <a:spAutoFit/>
          </a:bodyPr>
          <a:lstStyle/>
          <a:p>
            <a:pPr algn="l"/>
            <a:r>
              <a:rPr sz="4000" b="1">
                <a:solidFill>
                  <a:srgbClr val="FFFFFF"/>
                </a:solidFill>
              </a:rPr>
              <a:t>BB84 Protocol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
          </a:xfrm>
          <a:prstGeom prst="rect">
            <a:avLst/>
          </a:prstGeom>
          <a:solidFill>
            <a:srgbClr val="5BC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75704"/>
            <a:ext cx="12188952" cy="8229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82296"/>
            <a:ext cx="12188952" cy="1005840"/>
          </a:xfrm>
          <a:prstGeom prst="rect">
            <a:avLst/>
          </a:prstGeom>
          <a:solidFill>
            <a:srgbClr val="132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46304"/>
            <a:ext cx="11430000" cy="822960"/>
          </a:xfrm>
          <a:prstGeom prst="rect">
            <a:avLst/>
          </a:prstGeom>
          <a:noFill/>
        </p:spPr>
        <p:txBody>
          <a:bodyPr wrap="square">
            <a:spAutoFit/>
          </a:bodyPr>
          <a:lstStyle/>
          <a:p>
            <a:pPr algn="l"/>
            <a:r>
              <a:rPr sz="2600" b="1">
                <a:solidFill>
                  <a:srgbClr val="FFFFFF"/>
                </a:solidFill>
              </a:rPr>
              <a:t>Qubit &amp; Two Bases</a:t>
            </a:r>
          </a:p>
        </p:txBody>
      </p:sp>
      <p:sp>
        <p:nvSpPr>
          <p:cNvPr id="7" name="Rectangle 6"/>
          <p:cNvSpPr/>
          <p:nvPr/>
        </p:nvSpPr>
        <p:spPr>
          <a:xfrm>
            <a:off x="411480" y="1435608"/>
            <a:ext cx="118872" cy="118872"/>
          </a:xfrm>
          <a:prstGeom prst="rect">
            <a:avLst/>
          </a:prstGeom>
          <a:solidFill>
            <a:srgbClr val="5BC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1280160"/>
            <a:ext cx="11155680" cy="530352"/>
          </a:xfrm>
          <a:prstGeom prst="rect">
            <a:avLst/>
          </a:prstGeom>
          <a:noFill/>
        </p:spPr>
        <p:txBody>
          <a:bodyPr wrap="square">
            <a:spAutoFit/>
          </a:bodyPr>
          <a:lstStyle/>
          <a:p>
            <a:pPr algn="l"/>
            <a:r>
              <a:rPr sz="1800" b="0">
                <a:solidFill>
                  <a:srgbClr val="FFFFFF"/>
                </a:solidFill>
              </a:rPr>
              <a:t>Qubit — basic unit; probabilistic superposition of 0 and 1</a:t>
            </a:r>
          </a:p>
        </p:txBody>
      </p:sp>
      <p:sp>
        <p:nvSpPr>
          <p:cNvPr id="9" name="Rectangle 8"/>
          <p:cNvSpPr/>
          <p:nvPr/>
        </p:nvSpPr>
        <p:spPr>
          <a:xfrm>
            <a:off x="411480" y="2093976"/>
            <a:ext cx="118872" cy="118872"/>
          </a:xfrm>
          <a:prstGeom prst="rect">
            <a:avLst/>
          </a:prstGeom>
          <a:solidFill>
            <a:srgbClr val="5BC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1938528"/>
            <a:ext cx="11155680" cy="530352"/>
          </a:xfrm>
          <a:prstGeom prst="rect">
            <a:avLst/>
          </a:prstGeom>
          <a:noFill/>
        </p:spPr>
        <p:txBody>
          <a:bodyPr wrap="square">
            <a:spAutoFit/>
          </a:bodyPr>
          <a:lstStyle/>
          <a:p>
            <a:pPr algn="l"/>
            <a:r>
              <a:rPr sz="1800" b="0">
                <a:solidFill>
                  <a:srgbClr val="FFFFFF"/>
                </a:solidFill>
              </a:rPr>
              <a:t>Rectilinear basis:  0 = horizontal pol.   |  1 = vertical pol.</a:t>
            </a:r>
          </a:p>
        </p:txBody>
      </p:sp>
      <p:sp>
        <p:nvSpPr>
          <p:cNvPr id="11" name="Rectangle 10"/>
          <p:cNvSpPr/>
          <p:nvPr/>
        </p:nvSpPr>
        <p:spPr>
          <a:xfrm>
            <a:off x="411480" y="2752344"/>
            <a:ext cx="118872" cy="118872"/>
          </a:xfrm>
          <a:prstGeom prst="rect">
            <a:avLst/>
          </a:prstGeom>
          <a:solidFill>
            <a:srgbClr val="5BC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2596896"/>
            <a:ext cx="11155680" cy="530352"/>
          </a:xfrm>
          <a:prstGeom prst="rect">
            <a:avLst/>
          </a:prstGeom>
          <a:noFill/>
        </p:spPr>
        <p:txBody>
          <a:bodyPr wrap="square">
            <a:spAutoFit/>
          </a:bodyPr>
          <a:lstStyle/>
          <a:p>
            <a:pPr algn="l"/>
            <a:r>
              <a:rPr sz="1800" b="0">
                <a:solidFill>
                  <a:srgbClr val="FFFFFF"/>
                </a:solidFill>
              </a:rPr>
              <a:t>Diagonal basis:     0 = diagonal pol.     |  1 = anti-diagonal pol.</a:t>
            </a:r>
          </a:p>
        </p:txBody>
      </p:sp>
      <p:sp>
        <p:nvSpPr>
          <p:cNvPr id="13" name="Rectangle 12"/>
          <p:cNvSpPr/>
          <p:nvPr/>
        </p:nvSpPr>
        <p:spPr>
          <a:xfrm>
            <a:off x="411480" y="3410712"/>
            <a:ext cx="118872" cy="118872"/>
          </a:xfrm>
          <a:prstGeom prst="rect">
            <a:avLst/>
          </a:prstGeom>
          <a:solidFill>
            <a:srgbClr val="5BC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3255264"/>
            <a:ext cx="11155680" cy="530352"/>
          </a:xfrm>
          <a:prstGeom prst="rect">
            <a:avLst/>
          </a:prstGeom>
          <a:noFill/>
        </p:spPr>
        <p:txBody>
          <a:bodyPr wrap="square">
            <a:spAutoFit/>
          </a:bodyPr>
          <a:lstStyle/>
          <a:p>
            <a:pPr algn="l"/>
            <a:r>
              <a:rPr sz="1800" b="0">
                <a:solidFill>
                  <a:srgbClr val="FFFFFF"/>
                </a:solidFill>
              </a:rPr>
              <a:t>Applying different polarization filters changes how the state is represented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
          </a:xfrm>
          <a:prstGeom prst="rect">
            <a:avLst/>
          </a:prstGeom>
          <a:solidFill>
            <a:srgbClr val="5BC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75704"/>
            <a:ext cx="12188952" cy="8229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82296"/>
            <a:ext cx="12188952" cy="1005840"/>
          </a:xfrm>
          <a:prstGeom prst="rect">
            <a:avLst/>
          </a:prstGeom>
          <a:solidFill>
            <a:srgbClr val="132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46304"/>
            <a:ext cx="11430000" cy="822960"/>
          </a:xfrm>
          <a:prstGeom prst="rect">
            <a:avLst/>
          </a:prstGeom>
          <a:noFill/>
        </p:spPr>
        <p:txBody>
          <a:bodyPr wrap="square">
            <a:spAutoFit/>
          </a:bodyPr>
          <a:lstStyle/>
          <a:p>
            <a:pPr algn="l"/>
            <a:r>
              <a:rPr sz="2600" b="1">
                <a:solidFill>
                  <a:srgbClr val="FFFFFF"/>
                </a:solidFill>
              </a:rPr>
              <a:t>BB84 Protocol Steps</a:t>
            </a:r>
          </a:p>
        </p:txBody>
      </p:sp>
      <p:sp>
        <p:nvSpPr>
          <p:cNvPr id="7" name="Rectangle 6"/>
          <p:cNvSpPr/>
          <p:nvPr/>
        </p:nvSpPr>
        <p:spPr>
          <a:xfrm>
            <a:off x="411480" y="1435608"/>
            <a:ext cx="118872" cy="118872"/>
          </a:xfrm>
          <a:prstGeom prst="rect">
            <a:avLst/>
          </a:prstGeom>
          <a:solidFill>
            <a:srgbClr val="5BC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1280160"/>
            <a:ext cx="11155680" cy="530352"/>
          </a:xfrm>
          <a:prstGeom prst="rect">
            <a:avLst/>
          </a:prstGeom>
          <a:noFill/>
        </p:spPr>
        <p:txBody>
          <a:bodyPr wrap="square">
            <a:spAutoFit/>
          </a:bodyPr>
          <a:lstStyle/>
          <a:p>
            <a:pPr algn="l"/>
            <a:r>
              <a:rPr sz="1800" b="0">
                <a:solidFill>
                  <a:srgbClr val="FFFFFF"/>
                </a:solidFill>
              </a:rPr>
              <a:t>① Alice generates random bits and randomly picks a basis for each</a:t>
            </a:r>
          </a:p>
        </p:txBody>
      </p:sp>
      <p:sp>
        <p:nvSpPr>
          <p:cNvPr id="9" name="Rectangle 8"/>
          <p:cNvSpPr/>
          <p:nvPr/>
        </p:nvSpPr>
        <p:spPr>
          <a:xfrm>
            <a:off x="411480" y="2093976"/>
            <a:ext cx="118872" cy="118872"/>
          </a:xfrm>
          <a:prstGeom prst="rect">
            <a:avLst/>
          </a:prstGeom>
          <a:solidFill>
            <a:srgbClr val="5BC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1938528"/>
            <a:ext cx="11155680" cy="530352"/>
          </a:xfrm>
          <a:prstGeom prst="rect">
            <a:avLst/>
          </a:prstGeom>
          <a:noFill/>
        </p:spPr>
        <p:txBody>
          <a:bodyPr wrap="square">
            <a:spAutoFit/>
          </a:bodyPr>
          <a:lstStyle/>
          <a:p>
            <a:pPr algn="l"/>
            <a:r>
              <a:rPr sz="1800" b="0">
                <a:solidFill>
                  <a:srgbClr val="FFFFFF"/>
                </a:solidFill>
              </a:rPr>
              <a:t>② Alice encodes each bit using the chosen basis</a:t>
            </a:r>
          </a:p>
        </p:txBody>
      </p:sp>
      <p:sp>
        <p:nvSpPr>
          <p:cNvPr id="11" name="Rectangle 10"/>
          <p:cNvSpPr/>
          <p:nvPr/>
        </p:nvSpPr>
        <p:spPr>
          <a:xfrm>
            <a:off x="411480" y="2752344"/>
            <a:ext cx="118872" cy="118872"/>
          </a:xfrm>
          <a:prstGeom prst="rect">
            <a:avLst/>
          </a:prstGeom>
          <a:solidFill>
            <a:srgbClr val="5BC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2596896"/>
            <a:ext cx="11155680" cy="530352"/>
          </a:xfrm>
          <a:prstGeom prst="rect">
            <a:avLst/>
          </a:prstGeom>
          <a:noFill/>
        </p:spPr>
        <p:txBody>
          <a:bodyPr wrap="square">
            <a:spAutoFit/>
          </a:bodyPr>
          <a:lstStyle/>
          <a:p>
            <a:pPr algn="l"/>
            <a:r>
              <a:rPr sz="1800" b="0">
                <a:solidFill>
                  <a:srgbClr val="FFFFFF"/>
                </a:solidFill>
              </a:rPr>
              <a:t>③ Bob independently picks a random basis and measures each qubit</a:t>
            </a:r>
          </a:p>
        </p:txBody>
      </p:sp>
      <p:sp>
        <p:nvSpPr>
          <p:cNvPr id="13" name="Rectangle 12"/>
          <p:cNvSpPr/>
          <p:nvPr/>
        </p:nvSpPr>
        <p:spPr>
          <a:xfrm>
            <a:off x="411480" y="3410712"/>
            <a:ext cx="118872" cy="118872"/>
          </a:xfrm>
          <a:prstGeom prst="rect">
            <a:avLst/>
          </a:prstGeom>
          <a:solidFill>
            <a:srgbClr val="5BC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3255264"/>
            <a:ext cx="11155680" cy="530352"/>
          </a:xfrm>
          <a:prstGeom prst="rect">
            <a:avLst/>
          </a:prstGeom>
          <a:noFill/>
        </p:spPr>
        <p:txBody>
          <a:bodyPr wrap="square">
            <a:spAutoFit/>
          </a:bodyPr>
          <a:lstStyle/>
          <a:p>
            <a:pPr algn="l"/>
            <a:r>
              <a:rPr sz="1800" b="0">
                <a:solidFill>
                  <a:srgbClr val="FFFFFF"/>
                </a:solidFill>
              </a:rPr>
              <a:t>④ Alice &amp; Bob compare bases publicly — keep only matching bits (key sifting)</a:t>
            </a:r>
          </a:p>
        </p:txBody>
      </p:sp>
      <p:sp>
        <p:nvSpPr>
          <p:cNvPr id="15" name="Rectangle 14"/>
          <p:cNvSpPr/>
          <p:nvPr/>
        </p:nvSpPr>
        <p:spPr>
          <a:xfrm>
            <a:off x="411480" y="4069080"/>
            <a:ext cx="118872" cy="118872"/>
          </a:xfrm>
          <a:prstGeom prst="rect">
            <a:avLst/>
          </a:prstGeom>
          <a:solidFill>
            <a:srgbClr val="5BC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3913632"/>
            <a:ext cx="11155680" cy="530352"/>
          </a:xfrm>
          <a:prstGeom prst="rect">
            <a:avLst/>
          </a:prstGeom>
          <a:noFill/>
        </p:spPr>
        <p:txBody>
          <a:bodyPr wrap="square">
            <a:spAutoFit/>
          </a:bodyPr>
          <a:lstStyle/>
          <a:p>
            <a:pPr algn="l"/>
            <a:r>
              <a:rPr sz="1800" b="0">
                <a:solidFill>
                  <a:srgbClr val="FFFFFF"/>
                </a:solidFill>
              </a:rPr>
              <a:t>⑤ Keys match = no eavesdropping  /  Keys differ = eavesdropping detected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2880" cy="6858000"/>
          </a:xfrm>
          <a:prstGeom prst="rect">
            <a:avLst/>
          </a:prstGeom>
          <a:solidFill>
            <a:srgbClr val="5BC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75704"/>
            <a:ext cx="12188952" cy="8229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606040"/>
            <a:ext cx="10972800" cy="594360"/>
          </a:xfrm>
          <a:prstGeom prst="rect">
            <a:avLst/>
          </a:prstGeom>
          <a:noFill/>
        </p:spPr>
        <p:txBody>
          <a:bodyPr wrap="square">
            <a:spAutoFit/>
          </a:bodyPr>
          <a:lstStyle/>
          <a:p>
            <a:pPr algn="l"/>
            <a:r>
              <a:rPr sz="2000" b="1">
                <a:solidFill>
                  <a:srgbClr val="5BCEFA"/>
                </a:solidFill>
              </a:rPr>
              <a:t>Part 5</a:t>
            </a:r>
          </a:p>
        </p:txBody>
      </p:sp>
      <p:sp>
        <p:nvSpPr>
          <p:cNvPr id="6" name="TextBox 5"/>
          <p:cNvSpPr txBox="1"/>
          <p:nvPr/>
        </p:nvSpPr>
        <p:spPr>
          <a:xfrm>
            <a:off x="502920" y="3154680"/>
            <a:ext cx="10972800" cy="1005840"/>
          </a:xfrm>
          <a:prstGeom prst="rect">
            <a:avLst/>
          </a:prstGeom>
          <a:noFill/>
        </p:spPr>
        <p:txBody>
          <a:bodyPr wrap="square">
            <a:spAutoFit/>
          </a:bodyPr>
          <a:lstStyle/>
          <a:p>
            <a:pPr algn="l"/>
            <a:r>
              <a:rPr sz="4000" b="1">
                <a:solidFill>
                  <a:srgbClr val="FFFFFF"/>
                </a:solidFill>
              </a:rPr>
              <a:t>Implementation with Qiskit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
          </a:xfrm>
          <a:prstGeom prst="rect">
            <a:avLst/>
          </a:prstGeom>
          <a:solidFill>
            <a:srgbClr val="5BC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75704"/>
            <a:ext cx="12188952" cy="8229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82296"/>
            <a:ext cx="12188952" cy="1005840"/>
          </a:xfrm>
          <a:prstGeom prst="rect">
            <a:avLst/>
          </a:prstGeom>
          <a:solidFill>
            <a:srgbClr val="132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46304"/>
            <a:ext cx="11430000" cy="822960"/>
          </a:xfrm>
          <a:prstGeom prst="rect">
            <a:avLst/>
          </a:prstGeom>
          <a:noFill/>
        </p:spPr>
        <p:txBody>
          <a:bodyPr wrap="square">
            <a:spAutoFit/>
          </a:bodyPr>
          <a:lstStyle/>
          <a:p>
            <a:pPr algn="l"/>
            <a:r>
              <a:rPr sz="2600" b="1">
                <a:solidFill>
                  <a:srgbClr val="FFFFFF"/>
                </a:solidFill>
              </a:rPr>
              <a:t>What Is Qiskit?</a:t>
            </a:r>
          </a:p>
        </p:txBody>
      </p:sp>
      <p:sp>
        <p:nvSpPr>
          <p:cNvPr id="7" name="Rectangle 6"/>
          <p:cNvSpPr/>
          <p:nvPr/>
        </p:nvSpPr>
        <p:spPr>
          <a:xfrm>
            <a:off x="411480" y="1435608"/>
            <a:ext cx="118872" cy="118872"/>
          </a:xfrm>
          <a:prstGeom prst="rect">
            <a:avLst/>
          </a:prstGeom>
          <a:solidFill>
            <a:srgbClr val="5BC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1280160"/>
            <a:ext cx="11155680" cy="530352"/>
          </a:xfrm>
          <a:prstGeom prst="rect">
            <a:avLst/>
          </a:prstGeom>
          <a:noFill/>
        </p:spPr>
        <p:txBody>
          <a:bodyPr wrap="square">
            <a:spAutoFit/>
          </a:bodyPr>
          <a:lstStyle/>
          <a:p>
            <a:pPr algn="l"/>
            <a:r>
              <a:rPr sz="1800" b="0">
                <a:solidFill>
                  <a:srgbClr val="FFFFFF"/>
                </a:solidFill>
              </a:rPr>
              <a:t>Open-source quantum computing framework by IBM</a:t>
            </a:r>
          </a:p>
        </p:txBody>
      </p:sp>
      <p:sp>
        <p:nvSpPr>
          <p:cNvPr id="9" name="Rectangle 8"/>
          <p:cNvSpPr/>
          <p:nvPr/>
        </p:nvSpPr>
        <p:spPr>
          <a:xfrm>
            <a:off x="411480" y="2093976"/>
            <a:ext cx="118872" cy="118872"/>
          </a:xfrm>
          <a:prstGeom prst="rect">
            <a:avLst/>
          </a:prstGeom>
          <a:solidFill>
            <a:srgbClr val="5BC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1938528"/>
            <a:ext cx="11155680" cy="530352"/>
          </a:xfrm>
          <a:prstGeom prst="rect">
            <a:avLst/>
          </a:prstGeom>
          <a:noFill/>
        </p:spPr>
        <p:txBody>
          <a:bodyPr wrap="square">
            <a:spAutoFit/>
          </a:bodyPr>
          <a:lstStyle/>
          <a:p>
            <a:pPr algn="l"/>
            <a:r>
              <a:rPr sz="1800" b="0">
                <a:solidFill>
                  <a:srgbClr val="FFFFFF"/>
                </a:solidFill>
              </a:rPr>
              <a:t>Access real quantum computers via the cloud &amp; design circuits</a:t>
            </a:r>
          </a:p>
        </p:txBody>
      </p:sp>
      <p:sp>
        <p:nvSpPr>
          <p:cNvPr id="11" name="Rectangle 10"/>
          <p:cNvSpPr/>
          <p:nvPr/>
        </p:nvSpPr>
        <p:spPr>
          <a:xfrm>
            <a:off x="411480" y="2752344"/>
            <a:ext cx="118872" cy="118872"/>
          </a:xfrm>
          <a:prstGeom prst="rect">
            <a:avLst/>
          </a:prstGeom>
          <a:solidFill>
            <a:srgbClr val="5BC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2596896"/>
            <a:ext cx="11155680" cy="530352"/>
          </a:xfrm>
          <a:prstGeom prst="rect">
            <a:avLst/>
          </a:prstGeom>
          <a:noFill/>
        </p:spPr>
        <p:txBody>
          <a:bodyPr wrap="square">
            <a:spAutoFit/>
          </a:bodyPr>
          <a:lstStyle/>
          <a:p>
            <a:pPr algn="l"/>
            <a:r>
              <a:rPr sz="1800" b="0">
                <a:solidFill>
                  <a:srgbClr val="FFFFFF"/>
                </a:solidFill>
              </a:rPr>
              <a:t>Lab will be run in Google Colab (code pre-written)</a:t>
            </a:r>
          </a:p>
        </p:txBody>
      </p:sp>
      <p:sp>
        <p:nvSpPr>
          <p:cNvPr id="13" name="Rectangle 12"/>
          <p:cNvSpPr/>
          <p:nvPr/>
        </p:nvSpPr>
        <p:spPr>
          <a:xfrm>
            <a:off x="411480" y="3410712"/>
            <a:ext cx="118872" cy="118872"/>
          </a:xfrm>
          <a:prstGeom prst="rect">
            <a:avLst/>
          </a:prstGeom>
          <a:solidFill>
            <a:srgbClr val="5BC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3255264"/>
            <a:ext cx="11155680" cy="530352"/>
          </a:xfrm>
          <a:prstGeom prst="rect">
            <a:avLst/>
          </a:prstGeom>
          <a:noFill/>
        </p:spPr>
        <p:txBody>
          <a:bodyPr wrap="square">
            <a:spAutoFit/>
          </a:bodyPr>
          <a:lstStyle/>
          <a:p>
            <a:pPr algn="l"/>
            <a:r>
              <a:rPr sz="1800" b="0">
                <a:solidFill>
                  <a:srgbClr val="FFFFFF"/>
                </a:solidFill>
              </a:rPr>
              <a:t>Requirements: basic Python + basic Google Colab</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
          </a:xfrm>
          <a:prstGeom prst="rect">
            <a:avLst/>
          </a:prstGeom>
          <a:solidFill>
            <a:srgbClr val="5BC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75704"/>
            <a:ext cx="12188952" cy="8229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82296"/>
            <a:ext cx="12188952" cy="1005840"/>
          </a:xfrm>
          <a:prstGeom prst="rect">
            <a:avLst/>
          </a:prstGeom>
          <a:solidFill>
            <a:srgbClr val="132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46304"/>
            <a:ext cx="11430000" cy="822960"/>
          </a:xfrm>
          <a:prstGeom prst="rect">
            <a:avLst/>
          </a:prstGeom>
          <a:noFill/>
        </p:spPr>
        <p:txBody>
          <a:bodyPr wrap="square">
            <a:spAutoFit/>
          </a:bodyPr>
          <a:lstStyle/>
          <a:p>
            <a:pPr algn="l"/>
            <a:r>
              <a:rPr sz="2600" b="1">
                <a:solidFill>
                  <a:srgbClr val="FFFFFF"/>
                </a:solidFill>
              </a:rPr>
              <a:t>Hadamard Gate — Changing the Basis</a:t>
            </a:r>
          </a:p>
        </p:txBody>
      </p:sp>
      <p:sp>
        <p:nvSpPr>
          <p:cNvPr id="7" name="Rectangle 6"/>
          <p:cNvSpPr/>
          <p:nvPr/>
        </p:nvSpPr>
        <p:spPr>
          <a:xfrm>
            <a:off x="411480" y="1435608"/>
            <a:ext cx="118872" cy="118872"/>
          </a:xfrm>
          <a:prstGeom prst="rect">
            <a:avLst/>
          </a:prstGeom>
          <a:solidFill>
            <a:srgbClr val="5BC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1280160"/>
            <a:ext cx="11155680" cy="530352"/>
          </a:xfrm>
          <a:prstGeom prst="rect">
            <a:avLst/>
          </a:prstGeom>
          <a:noFill/>
        </p:spPr>
        <p:txBody>
          <a:bodyPr wrap="square">
            <a:spAutoFit/>
          </a:bodyPr>
          <a:lstStyle/>
          <a:p>
            <a:pPr algn="l"/>
            <a:r>
              <a:rPr sz="1800" b="0">
                <a:solidFill>
                  <a:srgbClr val="FFFFFF"/>
                </a:solidFill>
              </a:rPr>
              <a:t>Qubit 0 through diagonal basis -&gt; encoded as diagonal polarization</a:t>
            </a:r>
          </a:p>
        </p:txBody>
      </p:sp>
      <p:sp>
        <p:nvSpPr>
          <p:cNvPr id="9" name="Rectangle 8"/>
          <p:cNvSpPr/>
          <p:nvPr/>
        </p:nvSpPr>
        <p:spPr>
          <a:xfrm>
            <a:off x="411480" y="2093976"/>
            <a:ext cx="118872" cy="118872"/>
          </a:xfrm>
          <a:prstGeom prst="rect">
            <a:avLst/>
          </a:prstGeom>
          <a:solidFill>
            <a:srgbClr val="5BC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1938528"/>
            <a:ext cx="11155680" cy="530352"/>
          </a:xfrm>
          <a:prstGeom prst="rect">
            <a:avLst/>
          </a:prstGeom>
          <a:noFill/>
        </p:spPr>
        <p:txBody>
          <a:bodyPr wrap="square">
            <a:spAutoFit/>
          </a:bodyPr>
          <a:lstStyle/>
          <a:p>
            <a:pPr algn="l"/>
            <a:r>
              <a:rPr sz="1800" b="0">
                <a:solidFill>
                  <a:srgbClr val="FFFFFF"/>
                </a:solidFill>
              </a:rPr>
              <a:t>Hadamard gate: creates superposition, switches measurement basis</a:t>
            </a:r>
          </a:p>
        </p:txBody>
      </p:sp>
      <p:sp>
        <p:nvSpPr>
          <p:cNvPr id="11" name="Rectangle 10"/>
          <p:cNvSpPr/>
          <p:nvPr/>
        </p:nvSpPr>
        <p:spPr>
          <a:xfrm>
            <a:off x="411480" y="2752344"/>
            <a:ext cx="118872" cy="118872"/>
          </a:xfrm>
          <a:prstGeom prst="rect">
            <a:avLst/>
          </a:prstGeom>
          <a:solidFill>
            <a:srgbClr val="5BC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2596896"/>
            <a:ext cx="11155680" cy="530352"/>
          </a:xfrm>
          <a:prstGeom prst="rect">
            <a:avLst/>
          </a:prstGeom>
          <a:noFill/>
        </p:spPr>
        <p:txBody>
          <a:bodyPr wrap="square">
            <a:spAutoFit/>
          </a:bodyPr>
          <a:lstStyle/>
          <a:p>
            <a:pPr algn="l"/>
            <a:r>
              <a:rPr sz="1800" b="0">
                <a:solidFill>
                  <a:srgbClr val="FFFFFF"/>
                </a:solidFill>
              </a:rPr>
              <a:t>Rectilinear basis -&gt; no gate needed</a:t>
            </a:r>
          </a:p>
        </p:txBody>
      </p:sp>
      <p:sp>
        <p:nvSpPr>
          <p:cNvPr id="13" name="Rectangle 12"/>
          <p:cNvSpPr/>
          <p:nvPr/>
        </p:nvSpPr>
        <p:spPr>
          <a:xfrm>
            <a:off x="411480" y="3410712"/>
            <a:ext cx="118872" cy="118872"/>
          </a:xfrm>
          <a:prstGeom prst="rect">
            <a:avLst/>
          </a:prstGeom>
          <a:solidFill>
            <a:srgbClr val="5BC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3255264"/>
            <a:ext cx="11155680" cy="530352"/>
          </a:xfrm>
          <a:prstGeom prst="rect">
            <a:avLst/>
          </a:prstGeom>
          <a:noFill/>
        </p:spPr>
        <p:txBody>
          <a:bodyPr wrap="square">
            <a:spAutoFit/>
          </a:bodyPr>
          <a:lstStyle/>
          <a:p>
            <a:pPr algn="l"/>
            <a:r>
              <a:rPr sz="1800" b="0">
                <a:solidFill>
                  <a:srgbClr val="FFFFFF"/>
                </a:solidFill>
              </a:rPr>
              <a:t>Diagonal basis   -&gt; apply Hadamard gate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
          </a:xfrm>
          <a:prstGeom prst="rect">
            <a:avLst/>
          </a:prstGeom>
          <a:solidFill>
            <a:srgbClr val="5BC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75704"/>
            <a:ext cx="12188952" cy="8229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82296"/>
            <a:ext cx="12188952" cy="1005840"/>
          </a:xfrm>
          <a:prstGeom prst="rect">
            <a:avLst/>
          </a:prstGeom>
          <a:solidFill>
            <a:srgbClr val="132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46304"/>
            <a:ext cx="11430000" cy="822960"/>
          </a:xfrm>
          <a:prstGeom prst="rect">
            <a:avLst/>
          </a:prstGeom>
          <a:noFill/>
        </p:spPr>
        <p:txBody>
          <a:bodyPr wrap="square">
            <a:spAutoFit/>
          </a:bodyPr>
          <a:lstStyle/>
          <a:p>
            <a:pPr algn="l"/>
            <a:r>
              <a:rPr sz="2600" b="1">
                <a:solidFill>
                  <a:srgbClr val="FFFFFF"/>
                </a:solidFill>
              </a:rPr>
              <a:t>Demo 1 — No Eavesdropping</a:t>
            </a:r>
          </a:p>
        </p:txBody>
      </p:sp>
      <p:sp>
        <p:nvSpPr>
          <p:cNvPr id="7" name="Rectangle 6"/>
          <p:cNvSpPr/>
          <p:nvPr/>
        </p:nvSpPr>
        <p:spPr>
          <a:xfrm>
            <a:off x="411480" y="1435608"/>
            <a:ext cx="118872" cy="118872"/>
          </a:xfrm>
          <a:prstGeom prst="rect">
            <a:avLst/>
          </a:prstGeom>
          <a:solidFill>
            <a:srgbClr val="5BC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1280160"/>
            <a:ext cx="11155680" cy="530352"/>
          </a:xfrm>
          <a:prstGeom prst="rect">
            <a:avLst/>
          </a:prstGeom>
          <a:noFill/>
        </p:spPr>
        <p:txBody>
          <a:bodyPr wrap="square">
            <a:spAutoFit/>
          </a:bodyPr>
          <a:lstStyle/>
          <a:p>
            <a:pPr algn="l"/>
            <a:r>
              <a:rPr sz="1800" b="0">
                <a:solidFill>
                  <a:srgbClr val="FFFFFF"/>
                </a:solidFill>
              </a:rPr>
              <a:t>Create a 1-qubit circuit; initial state |0&gt;</a:t>
            </a:r>
          </a:p>
        </p:txBody>
      </p:sp>
      <p:sp>
        <p:nvSpPr>
          <p:cNvPr id="9" name="Rectangle 8"/>
          <p:cNvSpPr/>
          <p:nvPr/>
        </p:nvSpPr>
        <p:spPr>
          <a:xfrm>
            <a:off x="411480" y="2093976"/>
            <a:ext cx="118872" cy="118872"/>
          </a:xfrm>
          <a:prstGeom prst="rect">
            <a:avLst/>
          </a:prstGeom>
          <a:solidFill>
            <a:srgbClr val="5BC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1938528"/>
            <a:ext cx="11155680" cy="530352"/>
          </a:xfrm>
          <a:prstGeom prst="rect">
            <a:avLst/>
          </a:prstGeom>
          <a:noFill/>
        </p:spPr>
        <p:txBody>
          <a:bodyPr wrap="square">
            <a:spAutoFit/>
          </a:bodyPr>
          <a:lstStyle/>
          <a:p>
            <a:pPr algn="l"/>
            <a:r>
              <a:rPr sz="1800" b="0">
                <a:solidFill>
                  <a:srgbClr val="FFFFFF"/>
                </a:solidFill>
              </a:rPr>
              <a:t>Alice applies Hadamard -&gt; switches to diagonal basis</a:t>
            </a:r>
          </a:p>
        </p:txBody>
      </p:sp>
      <p:sp>
        <p:nvSpPr>
          <p:cNvPr id="11" name="Rectangle 10"/>
          <p:cNvSpPr/>
          <p:nvPr/>
        </p:nvSpPr>
        <p:spPr>
          <a:xfrm>
            <a:off x="411480" y="2752344"/>
            <a:ext cx="118872" cy="118872"/>
          </a:xfrm>
          <a:prstGeom prst="rect">
            <a:avLst/>
          </a:prstGeom>
          <a:solidFill>
            <a:srgbClr val="5BC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2596896"/>
            <a:ext cx="11155680" cy="530352"/>
          </a:xfrm>
          <a:prstGeom prst="rect">
            <a:avLst/>
          </a:prstGeom>
          <a:noFill/>
        </p:spPr>
        <p:txBody>
          <a:bodyPr wrap="square">
            <a:spAutoFit/>
          </a:bodyPr>
          <a:lstStyle/>
          <a:p>
            <a:pPr algn="l"/>
            <a:r>
              <a:rPr sz="1800" b="0">
                <a:solidFill>
                  <a:srgbClr val="FFFFFF"/>
                </a:solidFill>
              </a:rPr>
              <a:t>Bob applies Hadamard and measures in the same basis</a:t>
            </a:r>
          </a:p>
        </p:txBody>
      </p:sp>
      <p:sp>
        <p:nvSpPr>
          <p:cNvPr id="13" name="Rectangle 12"/>
          <p:cNvSpPr/>
          <p:nvPr/>
        </p:nvSpPr>
        <p:spPr>
          <a:xfrm>
            <a:off x="411480" y="3410712"/>
            <a:ext cx="118872" cy="118872"/>
          </a:xfrm>
          <a:prstGeom prst="rect">
            <a:avLst/>
          </a:prstGeom>
          <a:solidFill>
            <a:srgbClr val="5BC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3255264"/>
            <a:ext cx="11155680" cy="530352"/>
          </a:xfrm>
          <a:prstGeom prst="rect">
            <a:avLst/>
          </a:prstGeom>
          <a:noFill/>
        </p:spPr>
        <p:txBody>
          <a:bodyPr wrap="square">
            <a:spAutoFit/>
          </a:bodyPr>
          <a:lstStyle/>
          <a:p>
            <a:pPr algn="l"/>
            <a:r>
              <a:rPr sz="1800" b="0">
                <a:solidFill>
                  <a:srgbClr val="FFFFFF"/>
                </a:solidFill>
              </a:rPr>
              <a:t>Result: 100% probability of measuring 0 (original state preserved)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
          </a:xfrm>
          <a:prstGeom prst="rect">
            <a:avLst/>
          </a:prstGeom>
          <a:solidFill>
            <a:srgbClr val="5BC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75704"/>
            <a:ext cx="12188952" cy="8229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82296"/>
            <a:ext cx="12188952" cy="1005840"/>
          </a:xfrm>
          <a:prstGeom prst="rect">
            <a:avLst/>
          </a:prstGeom>
          <a:solidFill>
            <a:srgbClr val="132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46304"/>
            <a:ext cx="11430000" cy="822960"/>
          </a:xfrm>
          <a:prstGeom prst="rect">
            <a:avLst/>
          </a:prstGeom>
          <a:noFill/>
        </p:spPr>
        <p:txBody>
          <a:bodyPr wrap="square">
            <a:spAutoFit/>
          </a:bodyPr>
          <a:lstStyle/>
          <a:p>
            <a:pPr algn="l"/>
            <a:r>
              <a:rPr sz="2600" b="1">
                <a:solidFill>
                  <a:srgbClr val="FFFFFF"/>
                </a:solidFill>
              </a:rPr>
              <a:t>Demo 2 — With Eavesdropping (Eve)</a:t>
            </a:r>
          </a:p>
        </p:txBody>
      </p:sp>
      <p:sp>
        <p:nvSpPr>
          <p:cNvPr id="7" name="Rectangle 6"/>
          <p:cNvSpPr/>
          <p:nvPr/>
        </p:nvSpPr>
        <p:spPr>
          <a:xfrm>
            <a:off x="411480" y="1435608"/>
            <a:ext cx="118872" cy="118872"/>
          </a:xfrm>
          <a:prstGeom prst="rect">
            <a:avLst/>
          </a:prstGeom>
          <a:solidFill>
            <a:srgbClr val="5BC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1280160"/>
            <a:ext cx="11155680" cy="530352"/>
          </a:xfrm>
          <a:prstGeom prst="rect">
            <a:avLst/>
          </a:prstGeom>
          <a:noFill/>
        </p:spPr>
        <p:txBody>
          <a:bodyPr wrap="square">
            <a:spAutoFit/>
          </a:bodyPr>
          <a:lstStyle/>
          <a:p>
            <a:pPr algn="l"/>
            <a:r>
              <a:rPr sz="1800" b="0">
                <a:solidFill>
                  <a:srgbClr val="FFFFFF"/>
                </a:solidFill>
              </a:rPr>
              <a:t>Eve intercepts and measures the qubit mid-transmission</a:t>
            </a:r>
          </a:p>
        </p:txBody>
      </p:sp>
      <p:sp>
        <p:nvSpPr>
          <p:cNvPr id="9" name="Rectangle 8"/>
          <p:cNvSpPr/>
          <p:nvPr/>
        </p:nvSpPr>
        <p:spPr>
          <a:xfrm>
            <a:off x="411480" y="2093976"/>
            <a:ext cx="118872" cy="118872"/>
          </a:xfrm>
          <a:prstGeom prst="rect">
            <a:avLst/>
          </a:prstGeom>
          <a:solidFill>
            <a:srgbClr val="5BC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1938528"/>
            <a:ext cx="11155680" cy="530352"/>
          </a:xfrm>
          <a:prstGeom prst="rect">
            <a:avLst/>
          </a:prstGeom>
          <a:noFill/>
        </p:spPr>
        <p:txBody>
          <a:bodyPr wrap="square">
            <a:spAutoFit/>
          </a:bodyPr>
          <a:lstStyle/>
          <a:p>
            <a:pPr algn="l"/>
            <a:r>
              <a:rPr sz="1800" b="0">
                <a:solidFill>
                  <a:srgbClr val="FFFFFF"/>
                </a:solidFill>
              </a:rPr>
              <a:t>Measurement collapses the quantum state</a:t>
            </a:r>
          </a:p>
        </p:txBody>
      </p:sp>
      <p:sp>
        <p:nvSpPr>
          <p:cNvPr id="11" name="Rectangle 10"/>
          <p:cNvSpPr/>
          <p:nvPr/>
        </p:nvSpPr>
        <p:spPr>
          <a:xfrm>
            <a:off x="411480" y="2752344"/>
            <a:ext cx="118872" cy="118872"/>
          </a:xfrm>
          <a:prstGeom prst="rect">
            <a:avLst/>
          </a:prstGeom>
          <a:solidFill>
            <a:srgbClr val="5BC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2596896"/>
            <a:ext cx="11155680" cy="530352"/>
          </a:xfrm>
          <a:prstGeom prst="rect">
            <a:avLst/>
          </a:prstGeom>
          <a:noFill/>
        </p:spPr>
        <p:txBody>
          <a:bodyPr wrap="square">
            <a:spAutoFit/>
          </a:bodyPr>
          <a:lstStyle/>
          <a:p>
            <a:pPr algn="l"/>
            <a:r>
              <a:rPr sz="1800" b="0">
                <a:solidFill>
                  <a:srgbClr val="FFFFFF"/>
                </a:solidFill>
              </a:rPr>
              <a:t>Bob can no longer recover the original value</a:t>
            </a:r>
          </a:p>
        </p:txBody>
      </p:sp>
      <p:sp>
        <p:nvSpPr>
          <p:cNvPr id="13" name="Rectangle 12"/>
          <p:cNvSpPr/>
          <p:nvPr/>
        </p:nvSpPr>
        <p:spPr>
          <a:xfrm>
            <a:off x="411480" y="3410712"/>
            <a:ext cx="118872" cy="118872"/>
          </a:xfrm>
          <a:prstGeom prst="rect">
            <a:avLst/>
          </a:prstGeom>
          <a:solidFill>
            <a:srgbClr val="5BC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3255264"/>
            <a:ext cx="11155680" cy="530352"/>
          </a:xfrm>
          <a:prstGeom prst="rect">
            <a:avLst/>
          </a:prstGeom>
          <a:noFill/>
        </p:spPr>
        <p:txBody>
          <a:bodyPr wrap="square">
            <a:spAutoFit/>
          </a:bodyPr>
          <a:lstStyle/>
          <a:p>
            <a:pPr algn="l"/>
            <a:r>
              <a:rPr sz="1800" b="0">
                <a:solidFill>
                  <a:srgbClr val="FFFFFF"/>
                </a:solidFill>
              </a:rPr>
              <a:t>Result: 0 and 1 appear with ~50% probability each</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
          </a:xfrm>
          <a:prstGeom prst="rect">
            <a:avLst/>
          </a:prstGeom>
          <a:solidFill>
            <a:srgbClr val="5BC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75704"/>
            <a:ext cx="12188952" cy="8229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82296"/>
            <a:ext cx="12188952" cy="1005840"/>
          </a:xfrm>
          <a:prstGeom prst="rect">
            <a:avLst/>
          </a:prstGeom>
          <a:solidFill>
            <a:srgbClr val="132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46304"/>
            <a:ext cx="11430000" cy="822960"/>
          </a:xfrm>
          <a:prstGeom prst="rect">
            <a:avLst/>
          </a:prstGeom>
          <a:noFill/>
        </p:spPr>
        <p:txBody>
          <a:bodyPr wrap="square">
            <a:spAutoFit/>
          </a:bodyPr>
          <a:lstStyle/>
          <a:p>
            <a:pPr algn="l"/>
            <a:r>
              <a:rPr sz="2600" b="1">
                <a:solidFill>
                  <a:srgbClr val="FFFFFF"/>
                </a:solidFill>
              </a:rPr>
              <a:t>Full BB84 Lab — No Eavesdropping</a:t>
            </a:r>
          </a:p>
        </p:txBody>
      </p:sp>
      <p:sp>
        <p:nvSpPr>
          <p:cNvPr id="7" name="Rectangle 6"/>
          <p:cNvSpPr/>
          <p:nvPr/>
        </p:nvSpPr>
        <p:spPr>
          <a:xfrm>
            <a:off x="411480" y="1435608"/>
            <a:ext cx="118872" cy="118872"/>
          </a:xfrm>
          <a:prstGeom prst="rect">
            <a:avLst/>
          </a:prstGeom>
          <a:solidFill>
            <a:srgbClr val="5BC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1280160"/>
            <a:ext cx="11155680" cy="530352"/>
          </a:xfrm>
          <a:prstGeom prst="rect">
            <a:avLst/>
          </a:prstGeom>
          <a:noFill/>
        </p:spPr>
        <p:txBody>
          <a:bodyPr wrap="square">
            <a:spAutoFit/>
          </a:bodyPr>
          <a:lstStyle/>
          <a:p>
            <a:pPr algn="l"/>
            <a:r>
              <a:rPr sz="1800" b="0">
                <a:solidFill>
                  <a:srgbClr val="FFFFFF"/>
                </a:solidFill>
              </a:rPr>
              <a:t>NumPy random seed -&gt; generate 35 bits and 35 bases</a:t>
            </a:r>
          </a:p>
        </p:txBody>
      </p:sp>
      <p:sp>
        <p:nvSpPr>
          <p:cNvPr id="9" name="Rectangle 8"/>
          <p:cNvSpPr/>
          <p:nvPr/>
        </p:nvSpPr>
        <p:spPr>
          <a:xfrm>
            <a:off x="411480" y="2093976"/>
            <a:ext cx="118872" cy="118872"/>
          </a:xfrm>
          <a:prstGeom prst="rect">
            <a:avLst/>
          </a:prstGeom>
          <a:solidFill>
            <a:srgbClr val="5BC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1938528"/>
            <a:ext cx="11155680" cy="530352"/>
          </a:xfrm>
          <a:prstGeom prst="rect">
            <a:avLst/>
          </a:prstGeom>
          <a:noFill/>
        </p:spPr>
        <p:txBody>
          <a:bodyPr wrap="square">
            <a:spAutoFit/>
          </a:bodyPr>
          <a:lstStyle/>
          <a:p>
            <a:pPr algn="l"/>
            <a:r>
              <a:rPr sz="1800" b="0">
                <a:solidFill>
                  <a:srgbClr val="FFFFFF"/>
                </a:solidFill>
              </a:rPr>
              <a:t>encode_message(): build quantum circuits per bit &amp; basis</a:t>
            </a:r>
          </a:p>
        </p:txBody>
      </p:sp>
      <p:sp>
        <p:nvSpPr>
          <p:cNvPr id="11" name="Rectangle 10"/>
          <p:cNvSpPr/>
          <p:nvPr/>
        </p:nvSpPr>
        <p:spPr>
          <a:xfrm>
            <a:off x="411480" y="2752344"/>
            <a:ext cx="118872" cy="118872"/>
          </a:xfrm>
          <a:prstGeom prst="rect">
            <a:avLst/>
          </a:prstGeom>
          <a:solidFill>
            <a:srgbClr val="5BC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2596896"/>
            <a:ext cx="11155680" cy="530352"/>
          </a:xfrm>
          <a:prstGeom prst="rect">
            <a:avLst/>
          </a:prstGeom>
          <a:noFill/>
        </p:spPr>
        <p:txBody>
          <a:bodyPr wrap="square">
            <a:spAutoFit/>
          </a:bodyPr>
          <a:lstStyle/>
          <a:p>
            <a:pPr algn="l"/>
            <a:r>
              <a:rPr sz="1800" b="0">
                <a:solidFill>
                  <a:srgbClr val="FFFFFF"/>
                </a:solidFill>
              </a:rPr>
              <a:t>decode_message(): Bob picks random bases and measures</a:t>
            </a:r>
          </a:p>
        </p:txBody>
      </p:sp>
      <p:sp>
        <p:nvSpPr>
          <p:cNvPr id="13" name="Rectangle 12"/>
          <p:cNvSpPr/>
          <p:nvPr/>
        </p:nvSpPr>
        <p:spPr>
          <a:xfrm>
            <a:off x="411480" y="3410712"/>
            <a:ext cx="118872" cy="118872"/>
          </a:xfrm>
          <a:prstGeom prst="rect">
            <a:avLst/>
          </a:prstGeom>
          <a:solidFill>
            <a:srgbClr val="5BC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3255264"/>
            <a:ext cx="11155680" cy="530352"/>
          </a:xfrm>
          <a:prstGeom prst="rect">
            <a:avLst/>
          </a:prstGeom>
          <a:noFill/>
        </p:spPr>
        <p:txBody>
          <a:bodyPr wrap="square">
            <a:spAutoFit/>
          </a:bodyPr>
          <a:lstStyle/>
          <a:p>
            <a:pPr algn="l"/>
            <a:r>
              <a:rPr sz="1800" b="0">
                <a:solidFill>
                  <a:srgbClr val="FFFFFF"/>
                </a:solidFill>
              </a:rPr>
              <a:t>generate_encryption_key(): keep only same-basis bits</a:t>
            </a:r>
          </a:p>
        </p:txBody>
      </p:sp>
      <p:sp>
        <p:nvSpPr>
          <p:cNvPr id="15" name="Rectangle 14"/>
          <p:cNvSpPr/>
          <p:nvPr/>
        </p:nvSpPr>
        <p:spPr>
          <a:xfrm>
            <a:off x="411480" y="4069080"/>
            <a:ext cx="118872" cy="118872"/>
          </a:xfrm>
          <a:prstGeom prst="rect">
            <a:avLst/>
          </a:prstGeom>
          <a:solidFill>
            <a:srgbClr val="5BC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3913632"/>
            <a:ext cx="11155680" cy="530352"/>
          </a:xfrm>
          <a:prstGeom prst="rect">
            <a:avLst/>
          </a:prstGeom>
          <a:noFill/>
        </p:spPr>
        <p:txBody>
          <a:bodyPr wrap="square">
            <a:spAutoFit/>
          </a:bodyPr>
          <a:lstStyle/>
          <a:p>
            <a:pPr algn="l"/>
            <a:r>
              <a:rPr sz="1800" b="0">
                <a:solidFill>
                  <a:srgbClr val="FFFFFF"/>
                </a:solidFill>
              </a:rPr>
              <a:t>Keys match -&gt; Transmission successful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
          </a:xfrm>
          <a:prstGeom prst="rect">
            <a:avLst/>
          </a:prstGeom>
          <a:solidFill>
            <a:srgbClr val="5BC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75704"/>
            <a:ext cx="12188952" cy="8229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82296"/>
            <a:ext cx="12188952" cy="1005840"/>
          </a:xfrm>
          <a:prstGeom prst="rect">
            <a:avLst/>
          </a:prstGeom>
          <a:solidFill>
            <a:srgbClr val="132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46304"/>
            <a:ext cx="11430000" cy="822960"/>
          </a:xfrm>
          <a:prstGeom prst="rect">
            <a:avLst/>
          </a:prstGeom>
          <a:noFill/>
        </p:spPr>
        <p:txBody>
          <a:bodyPr wrap="square">
            <a:spAutoFit/>
          </a:bodyPr>
          <a:lstStyle/>
          <a:p>
            <a:pPr algn="l"/>
            <a:r>
              <a:rPr sz="2600" b="1">
                <a:solidFill>
                  <a:srgbClr val="FFFFFF"/>
                </a:solidFill>
              </a:rPr>
              <a:t>Full BB84 Lab — With Eve</a:t>
            </a:r>
          </a:p>
        </p:txBody>
      </p:sp>
      <p:sp>
        <p:nvSpPr>
          <p:cNvPr id="7" name="Rectangle 6"/>
          <p:cNvSpPr/>
          <p:nvPr/>
        </p:nvSpPr>
        <p:spPr>
          <a:xfrm>
            <a:off x="411480" y="1435608"/>
            <a:ext cx="118872" cy="118872"/>
          </a:xfrm>
          <a:prstGeom prst="rect">
            <a:avLst/>
          </a:prstGeom>
          <a:solidFill>
            <a:srgbClr val="5BC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1280160"/>
            <a:ext cx="11155680" cy="530352"/>
          </a:xfrm>
          <a:prstGeom prst="rect">
            <a:avLst/>
          </a:prstGeom>
          <a:noFill/>
        </p:spPr>
        <p:txBody>
          <a:bodyPr wrap="square">
            <a:spAutoFit/>
          </a:bodyPr>
          <a:lstStyle/>
          <a:p>
            <a:pPr algn="l"/>
            <a:r>
              <a:rPr sz="1800" b="0">
                <a:solidFill>
                  <a:srgbClr val="FFFFFF"/>
                </a:solidFill>
              </a:rPr>
              <a:t>Eve randomly picks a basis and decodes Alice's message mid-transit</a:t>
            </a:r>
          </a:p>
        </p:txBody>
      </p:sp>
      <p:sp>
        <p:nvSpPr>
          <p:cNvPr id="9" name="Rectangle 8"/>
          <p:cNvSpPr/>
          <p:nvPr/>
        </p:nvSpPr>
        <p:spPr>
          <a:xfrm>
            <a:off x="411480" y="2093976"/>
            <a:ext cx="118872" cy="118872"/>
          </a:xfrm>
          <a:prstGeom prst="rect">
            <a:avLst/>
          </a:prstGeom>
          <a:solidFill>
            <a:srgbClr val="5BC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1938528"/>
            <a:ext cx="11155680" cy="530352"/>
          </a:xfrm>
          <a:prstGeom prst="rect">
            <a:avLst/>
          </a:prstGeom>
          <a:noFill/>
        </p:spPr>
        <p:txBody>
          <a:bodyPr wrap="square">
            <a:spAutoFit/>
          </a:bodyPr>
          <a:lstStyle/>
          <a:p>
            <a:pPr algn="l"/>
            <a:r>
              <a:rPr sz="1800" b="0">
                <a:solidFill>
                  <a:srgbClr val="FFFFFF"/>
                </a:solidFill>
              </a:rPr>
              <a:t>Eve's measurement collapses the quantum state</a:t>
            </a:r>
          </a:p>
        </p:txBody>
      </p:sp>
      <p:sp>
        <p:nvSpPr>
          <p:cNvPr id="11" name="Rectangle 10"/>
          <p:cNvSpPr/>
          <p:nvPr/>
        </p:nvSpPr>
        <p:spPr>
          <a:xfrm>
            <a:off x="411480" y="2752344"/>
            <a:ext cx="118872" cy="118872"/>
          </a:xfrm>
          <a:prstGeom prst="rect">
            <a:avLst/>
          </a:prstGeom>
          <a:solidFill>
            <a:srgbClr val="5BC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2596896"/>
            <a:ext cx="11155680" cy="530352"/>
          </a:xfrm>
          <a:prstGeom prst="rect">
            <a:avLst/>
          </a:prstGeom>
          <a:noFill/>
        </p:spPr>
        <p:txBody>
          <a:bodyPr wrap="square">
            <a:spAutoFit/>
          </a:bodyPr>
          <a:lstStyle/>
          <a:p>
            <a:pPr algn="l"/>
            <a:r>
              <a:rPr sz="1800" b="0">
                <a:solidFill>
                  <a:srgbClr val="FFFFFF"/>
                </a:solidFill>
              </a:rPr>
              <a:t>Bob's decoded bits no longer match Alice's</a:t>
            </a:r>
          </a:p>
        </p:txBody>
      </p:sp>
      <p:sp>
        <p:nvSpPr>
          <p:cNvPr id="13" name="Rectangle 12"/>
          <p:cNvSpPr/>
          <p:nvPr/>
        </p:nvSpPr>
        <p:spPr>
          <a:xfrm>
            <a:off x="411480" y="3410712"/>
            <a:ext cx="118872" cy="118872"/>
          </a:xfrm>
          <a:prstGeom prst="rect">
            <a:avLst/>
          </a:prstGeom>
          <a:solidFill>
            <a:srgbClr val="5BC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3255264"/>
            <a:ext cx="11155680" cy="530352"/>
          </a:xfrm>
          <a:prstGeom prst="rect">
            <a:avLst/>
          </a:prstGeom>
          <a:noFill/>
        </p:spPr>
        <p:txBody>
          <a:bodyPr wrap="square">
            <a:spAutoFit/>
          </a:bodyPr>
          <a:lstStyle/>
          <a:p>
            <a:pPr algn="l"/>
            <a:r>
              <a:rPr sz="1800" b="0">
                <a:solidFill>
                  <a:srgbClr val="FFFFFF"/>
                </a:solidFill>
              </a:rPr>
              <a:t>Even same-basis bits disagree -&gt; eavesdropping detected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2296"/>
          </a:xfrm>
          <a:prstGeom prst="rect">
            <a:avLst/>
          </a:prstGeom>
          <a:solidFill>
            <a:srgbClr val="5BC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75704"/>
            <a:ext cx="12188952" cy="8229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554480"/>
            <a:ext cx="11064240" cy="4114800"/>
          </a:xfrm>
          <a:prstGeom prst="rect">
            <a:avLst/>
          </a:prstGeom>
          <a:solidFill>
            <a:srgbClr val="132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777240"/>
            <a:ext cx="12188952" cy="731520"/>
          </a:xfrm>
          <a:prstGeom prst="rect">
            <a:avLst/>
          </a:prstGeom>
          <a:noFill/>
        </p:spPr>
        <p:txBody>
          <a:bodyPr wrap="square">
            <a:spAutoFit/>
          </a:bodyPr>
          <a:lstStyle/>
          <a:p>
            <a:pPr algn="ctr"/>
            <a:r>
              <a:rPr sz="4200" b="1">
                <a:solidFill>
                  <a:srgbClr val="FFFFFF"/>
                </a:solidFill>
              </a:rPr>
              <a:t>Thank You</a:t>
            </a:r>
          </a:p>
        </p:txBody>
      </p:sp>
      <p:sp>
        <p:nvSpPr>
          <p:cNvPr id="7" name="TextBox 6"/>
          <p:cNvSpPr txBox="1"/>
          <p:nvPr/>
        </p:nvSpPr>
        <p:spPr>
          <a:xfrm>
            <a:off x="1280160" y="1828800"/>
            <a:ext cx="10058400" cy="420624"/>
          </a:xfrm>
          <a:prstGeom prst="rect">
            <a:avLst/>
          </a:prstGeom>
          <a:noFill/>
        </p:spPr>
        <p:txBody>
          <a:bodyPr wrap="square">
            <a:spAutoFit/>
          </a:bodyPr>
          <a:lstStyle/>
          <a:p>
            <a:pPr algn="l"/>
            <a:r>
              <a:rPr sz="1700" b="0">
                <a:solidFill>
                  <a:srgbClr val="5BCEFA"/>
                </a:solidFill>
              </a:rPr>
              <a:t>References</a:t>
            </a:r>
          </a:p>
        </p:txBody>
      </p:sp>
      <p:sp>
        <p:nvSpPr>
          <p:cNvPr id="8" name="TextBox 7"/>
          <p:cNvSpPr txBox="1"/>
          <p:nvPr/>
        </p:nvSpPr>
        <p:spPr>
          <a:xfrm>
            <a:off x="1280160" y="2231136"/>
            <a:ext cx="10058400" cy="420624"/>
          </a:xfrm>
          <a:prstGeom prst="rect">
            <a:avLst/>
          </a:prstGeom>
          <a:noFill/>
        </p:spPr>
        <p:txBody>
          <a:bodyPr wrap="square">
            <a:spAutoFit/>
          </a:bodyPr>
          <a:lstStyle/>
          <a:p>
            <a:pPr algn="l"/>
            <a:r>
              <a:rPr sz="1400" b="0">
                <a:solidFill>
                  <a:srgbClr val="9CB4CC"/>
                </a:solidFill>
              </a:rPr>
              <a:t>Several papers on quantum cryptography</a:t>
            </a:r>
          </a:p>
        </p:txBody>
      </p:sp>
      <p:sp>
        <p:nvSpPr>
          <p:cNvPr id="9" name="TextBox 8"/>
          <p:cNvSpPr txBox="1"/>
          <p:nvPr/>
        </p:nvSpPr>
        <p:spPr>
          <a:xfrm>
            <a:off x="1280160" y="2633472"/>
            <a:ext cx="10058400" cy="420624"/>
          </a:xfrm>
          <a:prstGeom prst="rect">
            <a:avLst/>
          </a:prstGeom>
          <a:noFill/>
        </p:spPr>
        <p:txBody>
          <a:bodyPr wrap="square">
            <a:spAutoFit/>
          </a:bodyPr>
          <a:lstStyle/>
          <a:p>
            <a:pPr algn="l"/>
            <a:r>
              <a:rPr sz="1400" b="0">
                <a:solidFill>
                  <a:srgbClr val="9CB4CC"/>
                </a:solidFill>
              </a:rPr>
              <a:t>Qiskit Textbook — github.com/Qiskit/textbook</a:t>
            </a:r>
          </a:p>
        </p:txBody>
      </p:sp>
      <p:sp>
        <p:nvSpPr>
          <p:cNvPr id="10" name="TextBox 9"/>
          <p:cNvSpPr txBox="1"/>
          <p:nvPr/>
        </p:nvSpPr>
        <p:spPr>
          <a:xfrm>
            <a:off x="1280160" y="3035808"/>
            <a:ext cx="10058400" cy="420624"/>
          </a:xfrm>
          <a:prstGeom prst="rect">
            <a:avLst/>
          </a:prstGeom>
          <a:noFill/>
        </p:spPr>
        <p:txBody>
          <a:bodyPr wrap="square">
            <a:spAutoFit/>
          </a:bodyPr>
          <a:lstStyle/>
          <a:p>
            <a:pPr algn="l"/>
            <a:r>
              <a:rPr sz="1700" b="0">
                <a:solidFill>
                  <a:srgbClr val="5BCEFA"/>
                </a:solidFill>
              </a:rPr>
              <a:t/>
            </a:r>
          </a:p>
        </p:txBody>
      </p:sp>
      <p:sp>
        <p:nvSpPr>
          <p:cNvPr id="11" name="TextBox 10"/>
          <p:cNvSpPr txBox="1"/>
          <p:nvPr/>
        </p:nvSpPr>
        <p:spPr>
          <a:xfrm>
            <a:off x="1280160" y="3438144"/>
            <a:ext cx="10058400" cy="420624"/>
          </a:xfrm>
          <a:prstGeom prst="rect">
            <a:avLst/>
          </a:prstGeom>
          <a:noFill/>
        </p:spPr>
        <p:txBody>
          <a:bodyPr wrap="square">
            <a:spAutoFit/>
          </a:bodyPr>
          <a:lstStyle/>
          <a:p>
            <a:pPr algn="l"/>
            <a:r>
              <a:rPr sz="1700" b="0">
                <a:solidFill>
                  <a:srgbClr val="5BCEFA"/>
                </a:solidFill>
              </a:rPr>
              <a:t>BB84 Protocol Implementation with Qiskit</a:t>
            </a:r>
          </a:p>
        </p:txBody>
      </p:sp>
      <p:sp>
        <p:nvSpPr>
          <p:cNvPr id="12" name="TextBox 11"/>
          <p:cNvSpPr txBox="1"/>
          <p:nvPr/>
        </p:nvSpPr>
        <p:spPr>
          <a:xfrm>
            <a:off x="1280160" y="3840480"/>
            <a:ext cx="10058400" cy="420624"/>
          </a:xfrm>
          <a:prstGeom prst="rect">
            <a:avLst/>
          </a:prstGeom>
          <a:noFill/>
        </p:spPr>
        <p:txBody>
          <a:bodyPr wrap="square">
            <a:spAutoFit/>
          </a:bodyPr>
          <a:lstStyle/>
          <a:p>
            <a:pPr algn="l"/>
            <a:r>
              <a:rPr sz="1700" b="0">
                <a:solidFill>
                  <a:srgbClr val="5BCEFA"/>
                </a:solidFill>
              </a:rPr>
              <a:t>Hyejin Kim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